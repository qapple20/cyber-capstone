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86726"/>
  </p:normalViewPr>
  <p:slideViewPr>
    <p:cSldViewPr snapToGrid="0" snapToObjects="1">
      <p:cViewPr varScale="1">
        <p:scale>
          <a:sx n="145" d="100"/>
          <a:sy n="145" d="100"/>
        </p:scale>
        <p:origin x="58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083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Quintin, and this is Pathfinder — an AI-integrated academic scheduling assistant I built as my capstone project this semester at Wittenberg.
Today I'll walk you through the problem I set out to solve, the development journey, the key technical decisions I made, and where this project could go in the future. I'll also do a quick live demo at the end.
This started in a very different place than where it ended up — so let's start from the beginning.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planning at most universities — including Wittenberg — is more complicated than it looks from the outside.
Students need to complete 126 credits, navigate 4+ years of prerequisite chains, and make decisions that affect whether they graduate on time. Self-Service is the current system Wittenberg uses, and while it shows available sections, it gives students almost no guidance about what they should take or why.
The result is advising bottlenecks, schedule conflicts, and students making choices that don't actually move them toward graduation efficiently.
That's the gap Pathfinder tries to fill — intelligent, personalized degree planning guidance available at any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gaps are why I believed a smarter system was worth building.
Self-Service is a registration tool — it tells you what's open. But it doesn't advise you. A student could technically enroll in a class before completing a prerequisite, or sign up for 18 credits during a semester they're also doing an internship. The system doesn't flag any of that.
Pathfinder was designed to be the layer above Self-Service — the intelligent advising assistant that takes into account who you are, where you are in your degree, and what makes sense for your situation specifically.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didn't start as Pathfinder.
My original capstone concept was a Security Information and Event Management system — essentially an infrastructure monitoring and alerting tool. After beginning the project, I realized the scope wasn't as compelling as I'd hoped for a capstone that could demonstrate real AI integration.
Mid-semester, I pivoted to building Pathfinder — an AI-integrated scheduling assistant for Wittenberg students. The idea was to replace the "read the catalog and guess" experience with something intelligent and contextual.
That pivot meant I was essentially starting over partway through the semester, which created real time pressure. I had to build the entire system — frontend, backend, AI logic, and data model — in a compressed timeline. That challenge is part of what shaped how this project developed.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goals drove every design and engineering decision throughout the project.
The chatbot isn't just a widget — it's the primary interface for adjusting your degree plan. When you say "no early classes" or "I want to graduate a semester early," the system actually modifies the scheduling algorithm's parameters and regenerates your plan.
The three-plan system means students aren't locked into one answer. They can compare a heavier accelerated path against a lighter one and pick what fits their life.
Prerequisite enforcement was particularly important — without it, the system could recommend impossible sequences that waste a semester.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straightforward by design. Students interact with a single HTML page. That page sends requests to a FastAPI backend running locally on port 8000. The backend routes everything — it calls the scheduling engine, the chatbot processor, the requirement tracker — and returns a single response that updates every part of the UI at once.
There's no database in this prototype. Session state is stored in-memory during the user's session. That's intentional for a prototype — it keeps the system simple and debuggable. In a production version, you'd replace the in-memory store with a real database and potentially connect directly to Wittenberg's student information system.
The key design principle is that the backend is always the source of truth. The frontend never stores logic — it only displays what the backend tells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choices were intentional and pragmatic.
Python was the natural fit — it's my strongest backend language and the ecosystem for web APIs is excellent. FastAPI specifically gave me automatic request validation and documentation, which saved significant time during debugging.
The "AI" in Pathfinder is rule-based rather than calling an external API like GPT. That was a deliberate choice — it means the system is fully self-contained, has no cost per request, and behaves deterministically. The chatbot classifies intent, extracts parameters, and triggers the real scheduling engine. The intelligence is in the scheduling logic, not in a language model.
The in-memory session state is appropriate for a prototype. It's fast, simple, and easy to debug. The architecture is designed so that swapping it for a real database would require changing one module, not rewriting the whole system.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tells the real story of this project.
Week 1 was about establishing the foundation after the pivot — getting a working backend skeleton, importing the real Wittenberg catalog, and connecting it to a basic frontend.
Week 2 was where the core intelligence was built — the constraint-based scheduling engine that respects prerequisites, offering schedules, and credit limits.
Week 3 introduced the chatbot and the shared session state. This was the hardest week architecturally — getting the chatbot, the scheduler, and the frontend all reading from the same state rather than maintaining separate copies.
Weeks 4 and 5 were intense debugging and refinement — fixing edge cases in credit minimums, adding fuzzy course code matching so typos like "ACT225" correctly resolve to ACCT225, enforcing time preferences as hard constraints, and adding the PDF export and comparison tools.
Each sprint built directly on the previous one — and honestly, the debugging weeks taught me the most.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features represent the core deliverables of the project.
The three-plan system is one of the things I'm most proud of — each plan genuinely differs in how it distributes coursework, and each is scored across three dimensions: graduation speed, workload balance, and how well it matches your stated preferences.
The click-to-toggle completion feature was a late addition that significantly improved usability. You can mark courses done directly from the prerequisite map, the progress page, or the compare view — and every other page updates immediately without any additional clicks.
The PDF export took longer than expected — getting the layout right inside ReportLab was tedious — but it's the kind of polished deliverable that makes this feel like a real tool rather than a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systems work together as the intelligence layer of Pathfinder.
The chatbot isn't a large language model — it's a carefully designed intent classifier. It reads what you type, identifies what you're asking for (change a preference, mark a course done, explain the plans), extracts the relevant parameters, updates the session state, and triggers the scheduler. The response it gives back is context-aware — it won't re-ask questions it already has answers to from earlier in the conversation.
The scheduler is where the real computational work happens. It uses a greedy constraint-satisfaction approach — it resolves the full list of remaining required courses, sorts them by priority, and fills semesters one at a time while respecting prerequisites, term availability, credit limits, and time preferences. When a semester falls below 12 credits because of prerequisite blocking, it pulls from a filler elective pool to pad it.
The two systems share a single session object — so when the chatbot updates a preference, the very next scheduler run automatically picks it up.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single HTML file — no JavaScript framework, no build step. It's deliberately simple because the complexity lives in the backend.
Each of the four views reads from the same backend state. When you toggle a course as complete in the Progress view, the backend regenerates the schedule, recalculates progress, and sends back a unified response that updates all four views simultaneously.
One of the more interesting UI decisions was the upcoming vs. future semester distinction. The next real semester shows actual meeting times so students can plan their week. Future semesters just show "TBD" — because trying to predict specific time slots two years out isn't meaningful and would just be noise.
Completed courses show as green across every view — schedule cards, prerequisite map nodes, and compare table rows — driven by the same backend state object.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what was genuinely difficult here, because I think that's more valuable than making it sound effortless.
The state synchronization problem was the most significant engineering challenge. Early versions of the system had the chatbot maintaining its own copy of the student's state, the frontend maintaining its own, and the scheduler a third. They all got out of sync constantly. The fix was designing a single session object that every component reads from and writes to — but getting there took a lot of refactoring.
The prerequisite OR-group problem was an interesting edge case. ECON300 at Wittenberg accepts either BUSN210 or DATA227 as its statistics prerequisite. But the catalog lists DATA227 specifically. A Finance student who completed BUSN210 was being told they couldn't take ECON300 — which is wrong. Fixing that meant adding an OR-prereq concept to the data model and propagating it through the scheduler, tracker, and chatbot validator.
The credit calculation bug where progress showed "112/100" was also memorable — caused by not separating major credits, gen-ed credits, and free electives into separate buckets.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lesson is architectural: design your data model before you write a single line of application code.
Almost every major bug in this project — the credit calculation errors, the state desync issues, the prerequisite validation problems — traced back to a data model that evolved organically rather than being planned deliberately. The session object that now holds all state was refactored in late development. It should have been designed first.
The second lesson is about the backend-as-source-of-truth principle. In early versions, the frontend stored some state locally in JavaScript variables. That created a situation where the chatbot, the backend, and the frontend all had slightly different views of the student's profile. Bugs like "I told the chatbot I was a sophomore but the scheduler still treated me as a freshman" came directly from that.
The scope lesson is more personal — pivoting to a better idea was the right call, but doing it mid-semester under time pressure meant the final product has rough edges I'd smooth out given more time.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Pathfinder is a working prototype with a clear path to becoming production software.
The near-term priorities are a real database and multi-user support. Those two changes would transform this from a demo into something students could actually log into and use continuously.
The most exciting mid-term goal is Self-Service integration. If Pathfinder could pull live enrollment data — actual seat availability, current waitlist lengths — it could generate plans that are truly actionable rather than aspirational.
The LLM upgrade is interesting because it would allow richer conversations. Right now the chatbot understands a specific set of intents. With a language model, you could ask something like "what's the hardest semester in this plan and how could I soften it?" and get a meaningful answer.
Long-term, the predictive analytics piece is where AI scheduling research shows the most promise. A system that knows which course combinations historically produce worse outcomes could actually steer students away from risky schedules before they're in trouble.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FLOW — walk through these steps:
1. Open Chrome, navigate to frontend/index.html (backend already running on port 8000)
2. Show the API status dot (green = connected) and the sidebar with 5 student profiles.
3. Click ALEX RIVERA (DS freshman, clean slate). Plan generates — show 3 alternatives (Balanced / Accelerated / Lighter Load) and their scores.
4. Click into SCHEDULE tab — point out the red "Upcoming" badge on the first semester with real times, vs "Future" badge on later semesters showing "TBD."
5. Click a course card — show the modal with prerequisites, meeting times, and the "Why this course was selected" explanation.
6. Switch to PROGRESS tab — show the credit bars (Major / Connections / Free Electives / Total). Point out the 126-credit total.
7. Switch to PREREQ MAP tab — click "Data Science" button. Walk a dependency chain: COMP150 → COMP250 → COMP353 (Machine Learning).
8. In the chat, type: "No 8am classes and I want to graduate early"
   — Show the response and the regenerated plan with updated settings.
9. Type: "I completed ACT225" — show the fuzzy match response ("I recognized 'ACT225' as ACCT225") and the plan regenerating.
10. Click EXPORT PDF — download and show the generated document.
Total demo time target: 4–5 minutes.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statement — deliver naturally, not read verbatim:
"Pathfinder is a working prototype that demonstrates what intelligent degree planning could look like for Wittenberg students. It understands who you are, respects your preferences, enforces the actual requirements from the catalog, and gives you multiple options rather than one answer.
The project wasn't perfect — it had a major scope change mid-semester, real debugging challenges, and there are still rough edges I'd sand down given more time. But the core system works, and more importantly, it solves a real problem that real students run into.
Thank you — I'm happy to take any questions."
POTENTIAL Q&amp;A RESPONSES:
- "How accurate is the schedule?" → It uses real Wittenberg 2025-26 catalog data. Semester offering patterns are estimated — a production version would pull live from the registrar.
- "Could this replace an advisor?" → No — and it shouldn't. It's a planning tool. Human advisors handle nuance, exceptions, and personal circumstances that no algorithm fully captures.
- "How hard was the chatbot to build?" → The intent classification is about 200 lines of Python. The hard part wasn't the NLP — it was making the chatbot and scheduler share the same state.
- "What would it take to make this real?" → A database, an authentication layer, and access to Wittenberg's actual course availability API. The core logic is already there.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 7 References — 10 sources used in the literature review:
1. Ahmed et al. (2023) — Systematic review of timetabling algorithms
2. Babaei et al. (2015) — Survey of course timetabling approaches
3. Daskalaki et al. (2004) — Integer programming for university timetabling
4. Gupta et al. (2023) — Evaluating AI advising systems in U.S. higher ed
5. Khosravi et al. (2022) — Explainable AI in education
6. Lindahl et al. (2018) — Quality recovery of university timetables
7. Müller et al. (2018) — International Timetabling Competition
8. Polyzou et al. (2019) — Scholars Walk course recommendation framework
9. Rodriguez &amp; Chen (2024) — LLMs in academic advising
10. Stange &amp; Kumar (2021) — Personalized degree planning recommender
These sources grounded Pathfinder's design in peer-reviewed research on constraint satisfaction scheduling, AI-assisted advising, explainability, and personalized degree planning.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2C2C"/>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CC0000"/>
          </a:solidFill>
          <a:ln w="12700">
            <a:solidFill>
              <a:srgbClr val="333333"/>
            </a:solidFill>
            <a:prstDash val="solid"/>
          </a:ln>
        </p:spPr>
        <p:txBody>
          <a:bodyPr/>
          <a:lstStyle/>
          <a:p>
            <a:endParaRPr lang="en-US"/>
          </a:p>
        </p:txBody>
      </p:sp>
      <p:sp>
        <p:nvSpPr>
          <p:cNvPr id="3" name="Text 1"/>
          <p:cNvSpPr/>
          <p:nvPr/>
        </p:nvSpPr>
        <p:spPr>
          <a:xfrm>
            <a:off x="457200" y="548640"/>
            <a:ext cx="2560320" cy="1097280"/>
          </a:xfrm>
          <a:prstGeom prst="rect">
            <a:avLst/>
          </a:prstGeom>
          <a:noFill/>
          <a:ln/>
        </p:spPr>
        <p:txBody>
          <a:bodyPr wrap="square" lIns="0" tIns="0" rIns="0" bIns="0" rtlCol="0" anchor="ctr"/>
          <a:lstStyle/>
          <a:p>
            <a:pPr marL="0" indent="0" algn="ctr">
              <a:buNone/>
            </a:pPr>
            <a:r>
              <a:rPr lang="en-US" sz="6400" b="1" dirty="0">
                <a:solidFill>
                  <a:srgbClr val="FFFFFF"/>
                </a:solidFill>
                <a:latin typeface="Georgia" pitchFamily="34" charset="0"/>
                <a:ea typeface="Georgia" pitchFamily="34" charset="-122"/>
                <a:cs typeface="Georgia" pitchFamily="34" charset="-120"/>
              </a:rPr>
              <a:t>PF</a:t>
            </a:r>
            <a:endParaRPr lang="en-US" sz="6400" dirty="0"/>
          </a:p>
        </p:txBody>
      </p:sp>
      <p:sp>
        <p:nvSpPr>
          <p:cNvPr id="4" name="Shape 2"/>
          <p:cNvSpPr/>
          <p:nvPr/>
        </p:nvSpPr>
        <p:spPr>
          <a:xfrm>
            <a:off x="640080" y="1645920"/>
            <a:ext cx="2194560" cy="45720"/>
          </a:xfrm>
          <a:prstGeom prst="rect">
            <a:avLst/>
          </a:prstGeom>
          <a:solidFill>
            <a:srgbClr val="FFFFFF"/>
          </a:solidFill>
          <a:ln w="12700">
            <a:solidFill>
              <a:srgbClr val="333333"/>
            </a:solidFill>
            <a:prstDash val="solid"/>
          </a:ln>
        </p:spPr>
        <p:txBody>
          <a:bodyPr/>
          <a:lstStyle/>
          <a:p>
            <a:endParaRPr lang="en-US"/>
          </a:p>
        </p:txBody>
      </p:sp>
      <p:sp>
        <p:nvSpPr>
          <p:cNvPr id="5" name="Text 3"/>
          <p:cNvSpPr/>
          <p:nvPr/>
        </p:nvSpPr>
        <p:spPr>
          <a:xfrm>
            <a:off x="365760" y="1783080"/>
            <a:ext cx="2743200" cy="502920"/>
          </a:xfrm>
          <a:prstGeom prst="rect">
            <a:avLst/>
          </a:prstGeom>
          <a:noFill/>
          <a:ln/>
        </p:spPr>
        <p:txBody>
          <a:bodyPr wrap="square" lIns="0" tIns="0" rIns="0" bIns="0" rtlCol="0" anchor="ctr"/>
          <a:lstStyle/>
          <a:p>
            <a:pPr marL="0" indent="0" algn="ctr">
              <a:buNone/>
            </a:pPr>
            <a:r>
              <a:rPr lang="en-US" sz="2000" b="1" kern="0" spc="200" dirty="0">
                <a:solidFill>
                  <a:srgbClr val="FFFFFF"/>
                </a:solidFill>
                <a:latin typeface="Georgia" pitchFamily="34" charset="0"/>
                <a:ea typeface="Georgia" pitchFamily="34" charset="-122"/>
                <a:cs typeface="Georgia" pitchFamily="34" charset="-120"/>
              </a:rPr>
              <a:t>Pathfinder</a:t>
            </a:r>
            <a:endParaRPr lang="en-US" sz="2000" dirty="0"/>
          </a:p>
        </p:txBody>
      </p:sp>
      <p:sp>
        <p:nvSpPr>
          <p:cNvPr id="6" name="Text 4"/>
          <p:cNvSpPr/>
          <p:nvPr/>
        </p:nvSpPr>
        <p:spPr>
          <a:xfrm>
            <a:off x="365760" y="2286000"/>
            <a:ext cx="2743200" cy="320040"/>
          </a:xfrm>
          <a:prstGeom prst="rect">
            <a:avLst/>
          </a:prstGeom>
          <a:noFill/>
          <a:ln/>
        </p:spPr>
        <p:txBody>
          <a:bodyPr wrap="square" lIns="0" tIns="0" rIns="0" bIns="0" rtlCol="0" anchor="ctr"/>
          <a:lstStyle/>
          <a:p>
            <a:pPr marL="0" indent="0" algn="ctr">
              <a:buNone/>
            </a:pPr>
            <a:r>
              <a:rPr lang="en-US" sz="900" kern="0" spc="400" dirty="0">
                <a:solidFill>
                  <a:srgbClr val="FFCCCC"/>
                </a:solidFill>
                <a:latin typeface="Calibri" pitchFamily="34" charset="0"/>
                <a:ea typeface="Calibri" pitchFamily="34" charset="-122"/>
                <a:cs typeface="Calibri" pitchFamily="34" charset="-120"/>
              </a:rPr>
              <a:t>AI ACADEMIC ADVISOR</a:t>
            </a:r>
            <a:endParaRPr lang="en-US" sz="900" dirty="0"/>
          </a:p>
        </p:txBody>
      </p:sp>
      <p:sp>
        <p:nvSpPr>
          <p:cNvPr id="7" name="Text 5"/>
          <p:cNvSpPr/>
          <p:nvPr/>
        </p:nvSpPr>
        <p:spPr>
          <a:xfrm>
            <a:off x="3840480" y="1005840"/>
            <a:ext cx="5029200" cy="502920"/>
          </a:xfrm>
          <a:prstGeom prst="rect">
            <a:avLst/>
          </a:prstGeom>
          <a:noFill/>
          <a:ln/>
        </p:spPr>
        <p:txBody>
          <a:bodyPr wrap="square" lIns="0" tIns="0" rIns="0" bIns="0" rtlCol="0" anchor="ctr"/>
          <a:lstStyle/>
          <a:p>
            <a:pPr marL="0" indent="0" algn="l">
              <a:buNone/>
            </a:pPr>
            <a:r>
              <a:rPr lang="en-US" sz="1300" kern="0" spc="300" dirty="0">
                <a:solidFill>
                  <a:srgbClr val="6B6B6B"/>
                </a:solidFill>
                <a:latin typeface="Calibri" pitchFamily="34" charset="0"/>
                <a:ea typeface="Calibri" pitchFamily="34" charset="-122"/>
                <a:cs typeface="Calibri" pitchFamily="34" charset="-120"/>
              </a:rPr>
              <a:t>Capstone Presentation</a:t>
            </a:r>
            <a:endParaRPr lang="en-US" sz="1300" dirty="0"/>
          </a:p>
        </p:txBody>
      </p:sp>
      <p:sp>
        <p:nvSpPr>
          <p:cNvPr id="8" name="Text 6"/>
          <p:cNvSpPr/>
          <p:nvPr/>
        </p:nvSpPr>
        <p:spPr>
          <a:xfrm>
            <a:off x="3840480" y="1554480"/>
            <a:ext cx="5029200" cy="1188720"/>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AI-Integrated University</a:t>
            </a:r>
            <a:endParaRPr lang="en-US" sz="3000" dirty="0"/>
          </a:p>
          <a:p>
            <a:pPr marL="0" indent="0" algn="l">
              <a:buNone/>
            </a:pPr>
            <a:r>
              <a:rPr lang="en-US" sz="3000" b="1" dirty="0">
                <a:solidFill>
                  <a:srgbClr val="FFFFFF"/>
                </a:solidFill>
                <a:latin typeface="Georgia" pitchFamily="34" charset="0"/>
                <a:ea typeface="Georgia" pitchFamily="34" charset="-122"/>
                <a:cs typeface="Georgia" pitchFamily="34" charset="-120"/>
              </a:rPr>
              <a:t>Scheduling System</a:t>
            </a:r>
            <a:endParaRPr lang="en-US" sz="3000" dirty="0"/>
          </a:p>
        </p:txBody>
      </p:sp>
      <p:sp>
        <p:nvSpPr>
          <p:cNvPr id="9" name="Text 7"/>
          <p:cNvSpPr/>
          <p:nvPr/>
        </p:nvSpPr>
        <p:spPr>
          <a:xfrm>
            <a:off x="3840480" y="2834640"/>
            <a:ext cx="5029200" cy="365760"/>
          </a:xfrm>
          <a:prstGeom prst="rect">
            <a:avLst/>
          </a:prstGeom>
          <a:noFill/>
          <a:ln/>
        </p:spPr>
        <p:txBody>
          <a:bodyPr wrap="square" lIns="0" tIns="0" rIns="0" bIns="0" rtlCol="0" anchor="ctr"/>
          <a:lstStyle/>
          <a:p>
            <a:pPr marL="0" indent="0" algn="l">
              <a:buNone/>
            </a:pPr>
            <a:r>
              <a:rPr lang="en-US" sz="1200" dirty="0">
                <a:solidFill>
                  <a:srgbClr val="6B6B6B"/>
                </a:solidFill>
                <a:latin typeface="Calibri" pitchFamily="34" charset="0"/>
                <a:ea typeface="Calibri" pitchFamily="34" charset="-122"/>
                <a:cs typeface="Calibri" pitchFamily="34" charset="-120"/>
              </a:rPr>
              <a:t>Wittenberg University  ·  Spring 2026  ·  Quintin Applegate</a:t>
            </a:r>
            <a:endParaRPr lang="en-US" sz="1200" dirty="0"/>
          </a:p>
        </p:txBody>
      </p:sp>
      <p:sp>
        <p:nvSpPr>
          <p:cNvPr id="10" name="Shape 8"/>
          <p:cNvSpPr/>
          <p:nvPr/>
        </p:nvSpPr>
        <p:spPr>
          <a:xfrm>
            <a:off x="3840480" y="4389120"/>
            <a:ext cx="5029200" cy="45720"/>
          </a:xfrm>
          <a:prstGeom prst="rect">
            <a:avLst/>
          </a:prstGeom>
          <a:solidFill>
            <a:srgbClr val="444444"/>
          </a:solidFill>
          <a:ln w="12700">
            <a:solidFill>
              <a:srgbClr val="333333"/>
            </a:solidFill>
            <a:prstDash val="solid"/>
          </a:ln>
        </p:spPr>
        <p:txBody>
          <a:bodyPr/>
          <a:lstStyle/>
          <a:p>
            <a:endParaRPr lang="en-US"/>
          </a:p>
        </p:txBody>
      </p:sp>
      <p:sp>
        <p:nvSpPr>
          <p:cNvPr id="11" name="Text 9"/>
          <p:cNvSpPr/>
          <p:nvPr/>
        </p:nvSpPr>
        <p:spPr>
          <a:xfrm>
            <a:off x="3840480" y="4480560"/>
            <a:ext cx="5029200" cy="320040"/>
          </a:xfrm>
          <a:prstGeom prst="rect">
            <a:avLst/>
          </a:prstGeom>
          <a:noFill/>
          <a:ln/>
        </p:spPr>
        <p:txBody>
          <a:bodyPr wrap="square" lIns="0" tIns="0" rIns="0" bIns="0" rtlCol="0" anchor="ctr"/>
          <a:lstStyle/>
          <a:p>
            <a:pPr marL="0" indent="0" algn="l">
              <a:buNone/>
            </a:pPr>
            <a:r>
              <a:rPr lang="en-US" sz="1000" dirty="0">
                <a:solidFill>
                  <a:srgbClr val="888888"/>
                </a:solidFill>
                <a:latin typeface="Calibri" pitchFamily="34" charset="0"/>
                <a:ea typeface="Calibri" pitchFamily="34" charset="-122"/>
                <a:cs typeface="Calibri" pitchFamily="34" charset="-120"/>
              </a:rPr>
              <a:t>Cyber Capstone  ·  Final Presentation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PROBLEM STATEMENT</a:t>
            </a:r>
            <a:endParaRPr lang="en-US" sz="800" dirty="0"/>
          </a:p>
        </p:txBody>
      </p:sp>
      <p:sp>
        <p:nvSpPr>
          <p:cNvPr id="3" name="Shape 1"/>
          <p:cNvSpPr/>
          <p:nvPr/>
        </p:nvSpPr>
        <p:spPr>
          <a:xfrm>
            <a:off x="411480" y="411480"/>
            <a:ext cx="54864" cy="685800"/>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85800"/>
          </a:xfrm>
          <a:prstGeom prst="rect">
            <a:avLst/>
          </a:prstGeom>
          <a:noFill/>
          <a:ln/>
        </p:spPr>
        <p:txBody>
          <a:bodyPr wrap="square" lIns="0" tIns="0" rIns="0" bIns="0" rtlCol="0" anchor="ctr"/>
          <a:lstStyle/>
          <a:p>
            <a:pPr marL="0" indent="0" algn="l">
              <a:buNone/>
            </a:pPr>
            <a:r>
              <a:rPr lang="en-US" sz="3000" b="1" dirty="0">
                <a:solidFill>
                  <a:srgbClr val="111111"/>
                </a:solidFill>
                <a:latin typeface="Georgia" pitchFamily="34" charset="0"/>
                <a:ea typeface="Georgia" pitchFamily="34" charset="-122"/>
                <a:cs typeface="Georgia" pitchFamily="34" charset="-120"/>
              </a:rPr>
              <a:t>The Scheduling Problem</a:t>
            </a:r>
            <a:endParaRPr lang="en-US" sz="3000" dirty="0"/>
          </a:p>
        </p:txBody>
      </p:sp>
      <p:sp>
        <p:nvSpPr>
          <p:cNvPr id="5" name="Shape 3"/>
          <p:cNvSpPr/>
          <p:nvPr/>
        </p:nvSpPr>
        <p:spPr>
          <a:xfrm>
            <a:off x="411480" y="1280160"/>
            <a:ext cx="2606040" cy="132588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411480" y="1325880"/>
            <a:ext cx="2606040" cy="685800"/>
          </a:xfrm>
          <a:prstGeom prst="rect">
            <a:avLst/>
          </a:prstGeom>
          <a:noFill/>
          <a:ln/>
        </p:spPr>
        <p:txBody>
          <a:bodyPr wrap="square" lIns="0" tIns="0" rIns="0" bIns="0" rtlCol="0" anchor="ctr"/>
          <a:lstStyle/>
          <a:p>
            <a:pPr marL="0" indent="0" algn="ctr">
              <a:buNone/>
            </a:pPr>
            <a:r>
              <a:rPr lang="en-US" sz="4400" b="1" dirty="0">
                <a:solidFill>
                  <a:srgbClr val="CC0000"/>
                </a:solidFill>
                <a:latin typeface="Georgia" pitchFamily="34" charset="0"/>
                <a:ea typeface="Georgia" pitchFamily="34" charset="-122"/>
                <a:cs typeface="Georgia" pitchFamily="34" charset="-120"/>
              </a:rPr>
              <a:t>126</a:t>
            </a:r>
            <a:endParaRPr lang="en-US" sz="4400" dirty="0"/>
          </a:p>
        </p:txBody>
      </p:sp>
      <p:sp>
        <p:nvSpPr>
          <p:cNvPr id="7" name="Text 5"/>
          <p:cNvSpPr/>
          <p:nvPr/>
        </p:nvSpPr>
        <p:spPr>
          <a:xfrm>
            <a:off x="411480" y="1993392"/>
            <a:ext cx="2606040" cy="548640"/>
          </a:xfrm>
          <a:prstGeom prst="rect">
            <a:avLst/>
          </a:prstGeom>
          <a:noFill/>
          <a:ln/>
        </p:spPr>
        <p:txBody>
          <a:bodyPr wrap="square" lIns="0" tIns="0" rIns="0" bIns="0" rtlCol="0" anchor="ctr"/>
          <a:lstStyle/>
          <a:p>
            <a:pPr marL="0" indent="0" algn="ctr">
              <a:buNone/>
            </a:pPr>
            <a:r>
              <a:rPr lang="en-US" sz="1100" dirty="0">
                <a:solidFill>
                  <a:srgbClr val="6B6B6B"/>
                </a:solidFill>
                <a:latin typeface="Calibri" pitchFamily="34" charset="0"/>
                <a:ea typeface="Calibri" pitchFamily="34" charset="-122"/>
                <a:cs typeface="Calibri" pitchFamily="34" charset="-120"/>
              </a:rPr>
              <a:t>credits required</a:t>
            </a:r>
            <a:endParaRPr lang="en-US" sz="1100" dirty="0"/>
          </a:p>
          <a:p>
            <a:pPr marL="0" indent="0" algn="ctr">
              <a:buNone/>
            </a:pPr>
            <a:r>
              <a:rPr lang="en-US" sz="1100" dirty="0">
                <a:solidFill>
                  <a:srgbClr val="6B6B6B"/>
                </a:solidFill>
                <a:latin typeface="Calibri" pitchFamily="34" charset="0"/>
                <a:ea typeface="Calibri" pitchFamily="34" charset="-122"/>
                <a:cs typeface="Calibri" pitchFamily="34" charset="-120"/>
              </a:rPr>
              <a:t>to graduate</a:t>
            </a:r>
            <a:endParaRPr lang="en-US" sz="1100" dirty="0"/>
          </a:p>
        </p:txBody>
      </p:sp>
      <p:sp>
        <p:nvSpPr>
          <p:cNvPr id="8" name="Shape 6"/>
          <p:cNvSpPr/>
          <p:nvPr/>
        </p:nvSpPr>
        <p:spPr>
          <a:xfrm>
            <a:off x="3246120" y="1280160"/>
            <a:ext cx="2606040" cy="132588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9" name="Text 7"/>
          <p:cNvSpPr/>
          <p:nvPr/>
        </p:nvSpPr>
        <p:spPr>
          <a:xfrm>
            <a:off x="3246120" y="1325880"/>
            <a:ext cx="2606040" cy="685800"/>
          </a:xfrm>
          <a:prstGeom prst="rect">
            <a:avLst/>
          </a:prstGeom>
          <a:noFill/>
          <a:ln/>
        </p:spPr>
        <p:txBody>
          <a:bodyPr wrap="square" lIns="0" tIns="0" rIns="0" bIns="0" rtlCol="0" anchor="ctr"/>
          <a:lstStyle/>
          <a:p>
            <a:pPr marL="0" indent="0" algn="ctr">
              <a:buNone/>
            </a:pPr>
            <a:r>
              <a:rPr lang="en-US" sz="4400" b="1" dirty="0">
                <a:solidFill>
                  <a:srgbClr val="CC0000"/>
                </a:solidFill>
                <a:latin typeface="Georgia" pitchFamily="34" charset="0"/>
                <a:ea typeface="Georgia" pitchFamily="34" charset="-122"/>
                <a:cs typeface="Georgia" pitchFamily="34" charset="-120"/>
              </a:rPr>
              <a:t>4–5</a:t>
            </a:r>
            <a:endParaRPr lang="en-US" sz="4400" dirty="0"/>
          </a:p>
        </p:txBody>
      </p:sp>
      <p:sp>
        <p:nvSpPr>
          <p:cNvPr id="10" name="Text 8"/>
          <p:cNvSpPr/>
          <p:nvPr/>
        </p:nvSpPr>
        <p:spPr>
          <a:xfrm>
            <a:off x="3246120" y="1993392"/>
            <a:ext cx="2606040" cy="548640"/>
          </a:xfrm>
          <a:prstGeom prst="rect">
            <a:avLst/>
          </a:prstGeom>
          <a:noFill/>
          <a:ln/>
        </p:spPr>
        <p:txBody>
          <a:bodyPr wrap="square" lIns="0" tIns="0" rIns="0" bIns="0" rtlCol="0" anchor="ctr"/>
          <a:lstStyle/>
          <a:p>
            <a:pPr marL="0" indent="0" algn="ctr">
              <a:buNone/>
            </a:pPr>
            <a:r>
              <a:rPr lang="en-US" sz="1100" dirty="0">
                <a:solidFill>
                  <a:srgbClr val="6B6B6B"/>
                </a:solidFill>
                <a:latin typeface="Calibri" pitchFamily="34" charset="0"/>
                <a:ea typeface="Calibri" pitchFamily="34" charset="-122"/>
                <a:cs typeface="Calibri" pitchFamily="34" charset="-120"/>
              </a:rPr>
              <a:t>years of course</a:t>
            </a:r>
            <a:endParaRPr lang="en-US" sz="1100" dirty="0"/>
          </a:p>
          <a:p>
            <a:pPr marL="0" indent="0" algn="ctr">
              <a:buNone/>
            </a:pPr>
            <a:r>
              <a:rPr lang="en-US" sz="1100" dirty="0">
                <a:solidFill>
                  <a:srgbClr val="6B6B6B"/>
                </a:solidFill>
                <a:latin typeface="Calibri" pitchFamily="34" charset="0"/>
                <a:ea typeface="Calibri" pitchFamily="34" charset="-122"/>
                <a:cs typeface="Calibri" pitchFamily="34" charset="-120"/>
              </a:rPr>
              <a:t>sequencing</a:t>
            </a:r>
            <a:endParaRPr lang="en-US" sz="1100" dirty="0"/>
          </a:p>
        </p:txBody>
      </p:sp>
      <p:sp>
        <p:nvSpPr>
          <p:cNvPr id="11" name="Shape 9"/>
          <p:cNvSpPr/>
          <p:nvPr/>
        </p:nvSpPr>
        <p:spPr>
          <a:xfrm>
            <a:off x="6080760" y="1280160"/>
            <a:ext cx="2606040" cy="132588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12" name="Text 10"/>
          <p:cNvSpPr/>
          <p:nvPr/>
        </p:nvSpPr>
        <p:spPr>
          <a:xfrm>
            <a:off x="5667521" y="1389888"/>
            <a:ext cx="2606040" cy="685800"/>
          </a:xfrm>
          <a:prstGeom prst="rect">
            <a:avLst/>
          </a:prstGeom>
          <a:noFill/>
          <a:ln/>
        </p:spPr>
        <p:txBody>
          <a:bodyPr wrap="square" lIns="0" tIns="0" rIns="0" bIns="0" rtlCol="0" anchor="ctr"/>
          <a:lstStyle/>
          <a:p>
            <a:pPr marL="0" indent="0" algn="ctr">
              <a:buNone/>
            </a:pPr>
            <a:r>
              <a:rPr lang="en-US" sz="4400" b="1" dirty="0">
                <a:solidFill>
                  <a:srgbClr val="CC0000"/>
                </a:solidFill>
                <a:latin typeface="Georgia" pitchFamily="34" charset="0"/>
                <a:ea typeface="Georgia" pitchFamily="34" charset="-122"/>
                <a:cs typeface="Georgia" pitchFamily="34" charset="-120"/>
              </a:rPr>
              <a:t>100+</a:t>
            </a:r>
            <a:endParaRPr lang="en-US" sz="4400" dirty="0"/>
          </a:p>
        </p:txBody>
      </p:sp>
      <p:sp>
        <p:nvSpPr>
          <p:cNvPr id="13" name="Text 11"/>
          <p:cNvSpPr/>
          <p:nvPr/>
        </p:nvSpPr>
        <p:spPr>
          <a:xfrm>
            <a:off x="6080760" y="1993392"/>
            <a:ext cx="2606040" cy="548640"/>
          </a:xfrm>
          <a:prstGeom prst="rect">
            <a:avLst/>
          </a:prstGeom>
          <a:noFill/>
          <a:ln/>
        </p:spPr>
        <p:txBody>
          <a:bodyPr wrap="square" lIns="0" tIns="0" rIns="0" bIns="0" rtlCol="0" anchor="ctr"/>
          <a:lstStyle/>
          <a:p>
            <a:pPr marL="0" indent="0" algn="ctr">
              <a:buNone/>
            </a:pPr>
            <a:r>
              <a:rPr lang="en-US" sz="1100" dirty="0">
                <a:solidFill>
                  <a:srgbClr val="6B6B6B"/>
                </a:solidFill>
                <a:latin typeface="Calibri" pitchFamily="34" charset="0"/>
                <a:ea typeface="Calibri" pitchFamily="34" charset="-122"/>
                <a:cs typeface="Calibri" pitchFamily="34" charset="-120"/>
              </a:rPr>
              <a:t>prerequisite</a:t>
            </a:r>
            <a:endParaRPr lang="en-US" sz="1100" dirty="0"/>
          </a:p>
          <a:p>
            <a:pPr marL="0" indent="0" algn="ctr">
              <a:buNone/>
            </a:pPr>
            <a:r>
              <a:rPr lang="en-US" sz="1100" dirty="0">
                <a:solidFill>
                  <a:srgbClr val="6B6B6B"/>
                </a:solidFill>
                <a:latin typeface="Calibri" pitchFamily="34" charset="0"/>
                <a:ea typeface="Calibri" pitchFamily="34" charset="-122"/>
                <a:cs typeface="Calibri" pitchFamily="34" charset="-120"/>
              </a:rPr>
              <a:t>dependencies</a:t>
            </a:r>
            <a:endParaRPr lang="en-US" sz="1100" dirty="0"/>
          </a:p>
        </p:txBody>
      </p:sp>
      <p:sp>
        <p:nvSpPr>
          <p:cNvPr id="14" name="Text 12"/>
          <p:cNvSpPr/>
          <p:nvPr/>
        </p:nvSpPr>
        <p:spPr>
          <a:xfrm>
            <a:off x="411480" y="2834640"/>
            <a:ext cx="8321040" cy="1097280"/>
          </a:xfrm>
          <a:prstGeom prst="rect">
            <a:avLst/>
          </a:prstGeom>
          <a:noFill/>
          <a:ln/>
        </p:spPr>
        <p:txBody>
          <a:bodyPr wrap="square" rtlCol="0" anchor="ctr"/>
          <a:lstStyle/>
          <a:p>
            <a:pPr marL="285750" indent="-285750" algn="l">
              <a:buFont typeface="System Font Regular"/>
              <a:buChar char="*"/>
            </a:pPr>
            <a:r>
              <a:rPr lang="en-US" sz="1400" dirty="0">
                <a:solidFill>
                  <a:srgbClr val="2C2C2C"/>
                </a:solidFill>
                <a:latin typeface="Calibri" pitchFamily="34" charset="0"/>
                <a:ea typeface="Calibri" pitchFamily="34" charset="-122"/>
                <a:cs typeface="Calibri" pitchFamily="34" charset="-120"/>
              </a:rPr>
              <a:t>Wittenberg students navigate course planning largely on their own.</a:t>
            </a:r>
            <a:endParaRPr lang="en-US" sz="1400" dirty="0"/>
          </a:p>
          <a:p>
            <a:pPr marL="0" indent="0" algn="l">
              <a:buNone/>
            </a:pPr>
            <a:endParaRPr lang="en-US" sz="1400" dirty="0">
              <a:solidFill>
                <a:srgbClr val="2C2C2C"/>
              </a:solidFill>
              <a:latin typeface="Calibri" pitchFamily="34" charset="0"/>
              <a:ea typeface="Calibri" pitchFamily="34" charset="-122"/>
              <a:cs typeface="Calibri" pitchFamily="34" charset="-120"/>
            </a:endParaRPr>
          </a:p>
          <a:p>
            <a:pPr marL="285750" indent="-285750" algn="l">
              <a:buFont typeface="System Font Regular"/>
              <a:buChar char="*"/>
            </a:pPr>
            <a:r>
              <a:rPr lang="en-US" sz="1400" dirty="0">
                <a:solidFill>
                  <a:srgbClr val="2C2C2C"/>
                </a:solidFill>
                <a:latin typeface="Calibri" pitchFamily="34" charset="0"/>
                <a:ea typeface="Calibri" pitchFamily="34" charset="-122"/>
                <a:cs typeface="Calibri" pitchFamily="34" charset="-120"/>
              </a:rPr>
              <a:t>Self-Service shows what's available — but not what you </a:t>
            </a:r>
            <a:r>
              <a:rPr lang="en-US" sz="1400" b="1" dirty="0">
                <a:solidFill>
                  <a:srgbClr val="2C2C2C"/>
                </a:solidFill>
                <a:latin typeface="Calibri" pitchFamily="34" charset="0"/>
                <a:ea typeface="Calibri" pitchFamily="34" charset="-122"/>
                <a:cs typeface="Calibri" pitchFamily="34" charset="-120"/>
              </a:rPr>
              <a:t>should</a:t>
            </a:r>
            <a:r>
              <a:rPr lang="en-US" sz="1400" dirty="0">
                <a:solidFill>
                  <a:srgbClr val="2C2C2C"/>
                </a:solidFill>
                <a:latin typeface="Calibri" pitchFamily="34" charset="0"/>
                <a:ea typeface="Calibri" pitchFamily="34" charset="-122"/>
                <a:cs typeface="Calibri" pitchFamily="34" charset="-120"/>
              </a:rPr>
              <a:t> take, or in what order.</a:t>
            </a:r>
            <a:endParaRPr lang="en-US" sz="1400" dirty="0"/>
          </a:p>
          <a:p>
            <a:pPr marL="0" indent="0" algn="l">
              <a:buNone/>
            </a:pPr>
            <a:endParaRPr lang="en-US" sz="1400" dirty="0">
              <a:solidFill>
                <a:srgbClr val="2C2C2C"/>
              </a:solidFill>
              <a:latin typeface="Calibri" pitchFamily="34" charset="0"/>
              <a:ea typeface="Calibri" pitchFamily="34" charset="-122"/>
              <a:cs typeface="Calibri" pitchFamily="34" charset="-120"/>
            </a:endParaRPr>
          </a:p>
          <a:p>
            <a:pPr marL="285750" indent="-285750" algn="l">
              <a:buFont typeface="System Font Regular"/>
              <a:buChar char="*"/>
            </a:pPr>
            <a:r>
              <a:rPr lang="en-US" sz="1400" dirty="0">
                <a:solidFill>
                  <a:srgbClr val="2C2C2C"/>
                </a:solidFill>
                <a:latin typeface="Calibri" pitchFamily="34" charset="0"/>
                <a:ea typeface="Calibri" pitchFamily="34" charset="-122"/>
                <a:cs typeface="Calibri" pitchFamily="34" charset="-120"/>
              </a:rPr>
              <a:t>No prerequisite guidance. No workload balancing. No multi-semester planning.</a:t>
            </a:r>
            <a:endParaRPr lang="en-US" sz="1400" dirty="0"/>
          </a:p>
        </p:txBody>
      </p:sp>
      <p:pic>
        <p:nvPicPr>
          <p:cNvPr id="15" name="Image 0" descr="preencoded.png"/>
          <p:cNvPicPr>
            <a:picLocks noChangeAspect="1"/>
          </p:cNvPicPr>
          <p:nvPr/>
        </p:nvPicPr>
        <p:blipFill>
          <a:blip r:embed="rId3"/>
          <a:stretch>
            <a:fillRect/>
          </a:stretch>
        </p:blipFill>
        <p:spPr>
          <a:xfrm>
            <a:off x="7724921" y="1298448"/>
            <a:ext cx="731520" cy="731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PROBLEM STATEMENT</a:t>
            </a:r>
            <a:endParaRPr lang="en-US" sz="800" dirty="0"/>
          </a:p>
        </p:txBody>
      </p:sp>
      <p:sp>
        <p:nvSpPr>
          <p:cNvPr id="3" name="Shape 1"/>
          <p:cNvSpPr/>
          <p:nvPr/>
        </p:nvSpPr>
        <p:spPr>
          <a:xfrm>
            <a:off x="411480" y="411480"/>
            <a:ext cx="54864" cy="685800"/>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85800"/>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Why Self-Service Isn't Enough</a:t>
            </a:r>
            <a:endParaRPr lang="en-US" sz="2800" dirty="0"/>
          </a:p>
        </p:txBody>
      </p:sp>
      <p:sp>
        <p:nvSpPr>
          <p:cNvPr id="5" name="Shape 3"/>
          <p:cNvSpPr/>
          <p:nvPr/>
        </p:nvSpPr>
        <p:spPr>
          <a:xfrm>
            <a:off x="411480" y="1325880"/>
            <a:ext cx="4023360" cy="1371600"/>
          </a:xfrm>
          <a:prstGeom prst="rect">
            <a:avLst/>
          </a:prstGeom>
          <a:solidFill>
            <a:srgbClr val="F7F7F7"/>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463040"/>
            <a:ext cx="411480" cy="411480"/>
          </a:xfrm>
          <a:prstGeom prst="rect">
            <a:avLst/>
          </a:prstGeom>
        </p:spPr>
      </p:pic>
      <p:sp>
        <p:nvSpPr>
          <p:cNvPr id="7" name="Text 4"/>
          <p:cNvSpPr/>
          <p:nvPr/>
        </p:nvSpPr>
        <p:spPr>
          <a:xfrm>
            <a:off x="1069848" y="1463040"/>
            <a:ext cx="3246120" cy="36576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No prerequisite guidance</a:t>
            </a:r>
            <a:endParaRPr lang="en-US" sz="1300" dirty="0"/>
          </a:p>
        </p:txBody>
      </p:sp>
      <p:sp>
        <p:nvSpPr>
          <p:cNvPr id="8" name="Text 5"/>
          <p:cNvSpPr/>
          <p:nvPr/>
        </p:nvSpPr>
        <p:spPr>
          <a:xfrm>
            <a:off x="548640" y="1892808"/>
            <a:ext cx="3749040" cy="685800"/>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Students must manually check requirements — easy to miss chains that take a full semester to recover from.</a:t>
            </a:r>
            <a:endParaRPr lang="en-US" sz="1100" dirty="0"/>
          </a:p>
        </p:txBody>
      </p:sp>
      <p:sp>
        <p:nvSpPr>
          <p:cNvPr id="9" name="Shape 6"/>
          <p:cNvSpPr/>
          <p:nvPr/>
        </p:nvSpPr>
        <p:spPr>
          <a:xfrm>
            <a:off x="4709160" y="1325880"/>
            <a:ext cx="4023360" cy="1371600"/>
          </a:xfrm>
          <a:prstGeom prst="rect">
            <a:avLst/>
          </a:prstGeom>
          <a:solidFill>
            <a:srgbClr val="F7F7F7"/>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0" name="Image 1" descr="preencoded.png"/>
          <p:cNvPicPr>
            <a:picLocks noChangeAspect="1"/>
          </p:cNvPicPr>
          <p:nvPr/>
        </p:nvPicPr>
        <p:blipFill>
          <a:blip r:embed="rId3"/>
          <a:stretch>
            <a:fillRect/>
          </a:stretch>
        </p:blipFill>
        <p:spPr>
          <a:xfrm>
            <a:off x="4846320" y="1463040"/>
            <a:ext cx="411480" cy="411480"/>
          </a:xfrm>
          <a:prstGeom prst="rect">
            <a:avLst/>
          </a:prstGeom>
        </p:spPr>
      </p:pic>
      <p:sp>
        <p:nvSpPr>
          <p:cNvPr id="11" name="Text 7"/>
          <p:cNvSpPr/>
          <p:nvPr/>
        </p:nvSpPr>
        <p:spPr>
          <a:xfrm>
            <a:off x="5367528" y="1463040"/>
            <a:ext cx="3246120" cy="36576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No workload awareness</a:t>
            </a:r>
            <a:endParaRPr lang="en-US" sz="1300" dirty="0"/>
          </a:p>
        </p:txBody>
      </p:sp>
      <p:sp>
        <p:nvSpPr>
          <p:cNvPr id="12" name="Text 8"/>
          <p:cNvSpPr/>
          <p:nvPr/>
        </p:nvSpPr>
        <p:spPr>
          <a:xfrm>
            <a:off x="4846320" y="1892808"/>
            <a:ext cx="3749040" cy="685800"/>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Nothing tells you if taking 18 credits this semester is a bad idea given your other commitments.</a:t>
            </a:r>
            <a:endParaRPr lang="en-US" sz="1100" dirty="0"/>
          </a:p>
        </p:txBody>
      </p:sp>
      <p:sp>
        <p:nvSpPr>
          <p:cNvPr id="13" name="Shape 9"/>
          <p:cNvSpPr/>
          <p:nvPr/>
        </p:nvSpPr>
        <p:spPr>
          <a:xfrm>
            <a:off x="411480" y="2880360"/>
            <a:ext cx="4023360" cy="1371600"/>
          </a:xfrm>
          <a:prstGeom prst="rect">
            <a:avLst/>
          </a:prstGeom>
          <a:solidFill>
            <a:srgbClr val="F7F7F7"/>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548640" y="3017520"/>
            <a:ext cx="411480" cy="411480"/>
          </a:xfrm>
          <a:prstGeom prst="rect">
            <a:avLst/>
          </a:prstGeom>
        </p:spPr>
      </p:pic>
      <p:sp>
        <p:nvSpPr>
          <p:cNvPr id="15" name="Text 10"/>
          <p:cNvSpPr/>
          <p:nvPr/>
        </p:nvSpPr>
        <p:spPr>
          <a:xfrm>
            <a:off x="1069848" y="3017520"/>
            <a:ext cx="3246120" cy="36576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No multi-semester planning</a:t>
            </a:r>
            <a:endParaRPr lang="en-US" sz="1300" dirty="0"/>
          </a:p>
        </p:txBody>
      </p:sp>
      <p:sp>
        <p:nvSpPr>
          <p:cNvPr id="16" name="Text 11"/>
          <p:cNvSpPr/>
          <p:nvPr/>
        </p:nvSpPr>
        <p:spPr>
          <a:xfrm>
            <a:off x="548640" y="3447288"/>
            <a:ext cx="3749040" cy="685800"/>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Self-Service shows one semester at a time. Students can't see how today's choice impacts their senior year.</a:t>
            </a:r>
            <a:endParaRPr lang="en-US" sz="1100" dirty="0"/>
          </a:p>
        </p:txBody>
      </p:sp>
      <p:sp>
        <p:nvSpPr>
          <p:cNvPr id="17" name="Shape 12"/>
          <p:cNvSpPr/>
          <p:nvPr/>
        </p:nvSpPr>
        <p:spPr>
          <a:xfrm>
            <a:off x="4709160" y="2880360"/>
            <a:ext cx="4023360" cy="1371600"/>
          </a:xfrm>
          <a:prstGeom prst="rect">
            <a:avLst/>
          </a:prstGeom>
          <a:solidFill>
            <a:srgbClr val="F7F7F7"/>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8" name="Image 3" descr="preencoded.png"/>
          <p:cNvPicPr>
            <a:picLocks noChangeAspect="1"/>
          </p:cNvPicPr>
          <p:nvPr/>
        </p:nvPicPr>
        <p:blipFill>
          <a:blip r:embed="rId3"/>
          <a:stretch>
            <a:fillRect/>
          </a:stretch>
        </p:blipFill>
        <p:spPr>
          <a:xfrm>
            <a:off x="4846320" y="3017520"/>
            <a:ext cx="411480" cy="411480"/>
          </a:xfrm>
          <a:prstGeom prst="rect">
            <a:avLst/>
          </a:prstGeom>
        </p:spPr>
      </p:pic>
      <p:sp>
        <p:nvSpPr>
          <p:cNvPr id="19" name="Text 13"/>
          <p:cNvSpPr/>
          <p:nvPr/>
        </p:nvSpPr>
        <p:spPr>
          <a:xfrm>
            <a:off x="5367528" y="3017520"/>
            <a:ext cx="3246120" cy="36576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No personalization</a:t>
            </a:r>
            <a:endParaRPr lang="en-US" sz="1300" dirty="0"/>
          </a:p>
        </p:txBody>
      </p:sp>
      <p:sp>
        <p:nvSpPr>
          <p:cNvPr id="20" name="Text 14"/>
          <p:cNvSpPr/>
          <p:nvPr/>
        </p:nvSpPr>
        <p:spPr>
          <a:xfrm>
            <a:off x="4846320" y="3447288"/>
            <a:ext cx="3749040" cy="685800"/>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Everyone sees the same catalog. Athletes, part-time students, and transfers have no differentiated path.</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PROJECT ORIGIN</a:t>
            </a:r>
            <a:endParaRPr lang="en-US" sz="800" dirty="0"/>
          </a:p>
        </p:txBody>
      </p:sp>
      <p:sp>
        <p:nvSpPr>
          <p:cNvPr id="3" name="Text 1"/>
          <p:cNvSpPr/>
          <p:nvPr/>
        </p:nvSpPr>
        <p:spPr>
          <a:xfrm>
            <a:off x="411480" y="411480"/>
            <a:ext cx="8321040" cy="685800"/>
          </a:xfrm>
          <a:prstGeom prst="rect">
            <a:avLst/>
          </a:prstGeom>
          <a:noFill/>
          <a:ln/>
        </p:spPr>
        <p:txBody>
          <a:bodyPr wrap="square" lIns="0" tIns="0" rIns="0" bIns="0" rtlCol="0" anchor="ctr"/>
          <a:lstStyle/>
          <a:p>
            <a:pPr marL="0" indent="0" algn="l">
              <a:buNone/>
            </a:pPr>
            <a:r>
              <a:rPr lang="en-US" sz="3200" b="1" dirty="0">
                <a:solidFill>
                  <a:srgbClr val="FFFFFF"/>
                </a:solidFill>
                <a:latin typeface="Georgia" pitchFamily="34" charset="0"/>
                <a:ea typeface="Georgia" pitchFamily="34" charset="-122"/>
                <a:cs typeface="Georgia" pitchFamily="34" charset="-120"/>
              </a:rPr>
              <a:t>The Pivot</a:t>
            </a:r>
            <a:endParaRPr lang="en-US" sz="3200" dirty="0"/>
          </a:p>
        </p:txBody>
      </p:sp>
      <p:sp>
        <p:nvSpPr>
          <p:cNvPr id="4" name="Shape 2"/>
          <p:cNvSpPr/>
          <p:nvPr/>
        </p:nvSpPr>
        <p:spPr>
          <a:xfrm>
            <a:off x="411480" y="1325880"/>
            <a:ext cx="2560320" cy="54864"/>
          </a:xfrm>
          <a:prstGeom prst="rect">
            <a:avLst/>
          </a:prstGeom>
          <a:solidFill>
            <a:srgbClr val="6B6B6B"/>
          </a:solidFill>
          <a:ln w="12700">
            <a:solidFill>
              <a:srgbClr val="333333"/>
            </a:solidFill>
            <a:prstDash val="solid"/>
          </a:ln>
        </p:spPr>
        <p:txBody>
          <a:bodyPr/>
          <a:lstStyle/>
          <a:p>
            <a:endParaRPr lang="en-US"/>
          </a:p>
        </p:txBody>
      </p:sp>
      <p:sp>
        <p:nvSpPr>
          <p:cNvPr id="5" name="Shape 3"/>
          <p:cNvSpPr/>
          <p:nvPr/>
        </p:nvSpPr>
        <p:spPr>
          <a:xfrm>
            <a:off x="1645920" y="1115568"/>
            <a:ext cx="91440" cy="228600"/>
          </a:xfrm>
          <a:prstGeom prst="rect">
            <a:avLst/>
          </a:prstGeom>
          <a:solidFill>
            <a:srgbClr val="6B6B6B"/>
          </a:solidFill>
          <a:ln w="12700">
            <a:solidFill>
              <a:srgbClr val="333333"/>
            </a:solidFill>
            <a:prstDash val="solid"/>
          </a:ln>
        </p:spPr>
        <p:txBody>
          <a:bodyPr/>
          <a:lstStyle/>
          <a:p>
            <a:endParaRPr lang="en-US"/>
          </a:p>
        </p:txBody>
      </p:sp>
      <p:sp>
        <p:nvSpPr>
          <p:cNvPr id="6" name="Shape 4"/>
          <p:cNvSpPr/>
          <p:nvPr/>
        </p:nvSpPr>
        <p:spPr>
          <a:xfrm>
            <a:off x="411480" y="1463040"/>
            <a:ext cx="2560320" cy="2194560"/>
          </a:xfrm>
          <a:prstGeom prst="rect">
            <a:avLst/>
          </a:prstGeom>
          <a:solidFill>
            <a:srgbClr val="1E1E1E"/>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7" name="Text 5"/>
          <p:cNvSpPr/>
          <p:nvPr/>
        </p:nvSpPr>
        <p:spPr>
          <a:xfrm>
            <a:off x="411480" y="1481328"/>
            <a:ext cx="2560320" cy="320040"/>
          </a:xfrm>
          <a:prstGeom prst="rect">
            <a:avLst/>
          </a:prstGeom>
          <a:noFill/>
          <a:ln/>
        </p:spPr>
        <p:txBody>
          <a:bodyPr wrap="square" lIns="0" tIns="0" rIns="0" bIns="0" rtlCol="0" anchor="ctr"/>
          <a:lstStyle/>
          <a:p>
            <a:pPr marL="0" indent="0" algn="ctr">
              <a:buNone/>
            </a:pPr>
            <a:r>
              <a:rPr lang="en-US" sz="900" kern="0" spc="200" dirty="0">
                <a:solidFill>
                  <a:srgbClr val="888888"/>
                </a:solidFill>
                <a:latin typeface="Calibri" pitchFamily="34" charset="0"/>
                <a:ea typeface="Calibri" pitchFamily="34" charset="-122"/>
                <a:cs typeface="Calibri" pitchFamily="34" charset="-120"/>
              </a:rPr>
              <a:t>Early April</a:t>
            </a:r>
            <a:endParaRPr lang="en-US" sz="900" dirty="0"/>
          </a:p>
        </p:txBody>
      </p:sp>
      <p:sp>
        <p:nvSpPr>
          <p:cNvPr id="8" name="Text 6"/>
          <p:cNvSpPr/>
          <p:nvPr/>
        </p:nvSpPr>
        <p:spPr>
          <a:xfrm>
            <a:off x="411480" y="1810512"/>
            <a:ext cx="25603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Original Scope</a:t>
            </a:r>
            <a:endParaRPr lang="en-US" sz="1600" dirty="0"/>
          </a:p>
        </p:txBody>
      </p:sp>
      <p:sp>
        <p:nvSpPr>
          <p:cNvPr id="9" name="Text 7"/>
          <p:cNvSpPr/>
          <p:nvPr/>
        </p:nvSpPr>
        <p:spPr>
          <a:xfrm>
            <a:off x="548640" y="2359152"/>
            <a:ext cx="2286000" cy="1097280"/>
          </a:xfrm>
          <a:prstGeom prst="rect">
            <a:avLst/>
          </a:prstGeom>
          <a:noFill/>
          <a:ln/>
        </p:spPr>
        <p:txBody>
          <a:bodyPr wrap="square" lIns="0" tIns="0" rIns="0" bIns="0" rtlCol="0" anchor="ctr"/>
          <a:lstStyle/>
          <a:p>
            <a:pPr marL="0" indent="0" algn="ctr">
              <a:buNone/>
            </a:pPr>
            <a:r>
              <a:rPr lang="en-US" sz="1100" dirty="0">
                <a:solidFill>
                  <a:srgbClr val="AAAAAA"/>
                </a:solidFill>
                <a:latin typeface="Calibri" pitchFamily="34" charset="0"/>
                <a:ea typeface="Calibri" pitchFamily="34" charset="-122"/>
                <a:cs typeface="Calibri" pitchFamily="34" charset="-120"/>
              </a:rPr>
              <a:t>Infrastructure monitoring &amp; SIEM alerting system</a:t>
            </a:r>
            <a:endParaRPr lang="en-US" sz="1100" dirty="0"/>
          </a:p>
        </p:txBody>
      </p:sp>
      <p:sp>
        <p:nvSpPr>
          <p:cNvPr id="10" name="Shape 8"/>
          <p:cNvSpPr/>
          <p:nvPr/>
        </p:nvSpPr>
        <p:spPr>
          <a:xfrm>
            <a:off x="3246120" y="1325880"/>
            <a:ext cx="2560320" cy="54864"/>
          </a:xfrm>
          <a:prstGeom prst="rect">
            <a:avLst/>
          </a:prstGeom>
          <a:solidFill>
            <a:srgbClr val="CC0000"/>
          </a:solidFill>
          <a:ln w="12700">
            <a:solidFill>
              <a:srgbClr val="333333"/>
            </a:solidFill>
            <a:prstDash val="solid"/>
          </a:ln>
        </p:spPr>
        <p:txBody>
          <a:bodyPr/>
          <a:lstStyle/>
          <a:p>
            <a:endParaRPr lang="en-US"/>
          </a:p>
        </p:txBody>
      </p:sp>
      <p:sp>
        <p:nvSpPr>
          <p:cNvPr id="11" name="Shape 9"/>
          <p:cNvSpPr/>
          <p:nvPr/>
        </p:nvSpPr>
        <p:spPr>
          <a:xfrm>
            <a:off x="4480560" y="1115568"/>
            <a:ext cx="91440" cy="228600"/>
          </a:xfrm>
          <a:prstGeom prst="rect">
            <a:avLst/>
          </a:prstGeom>
          <a:solidFill>
            <a:srgbClr val="CC0000"/>
          </a:solidFill>
          <a:ln w="12700">
            <a:solidFill>
              <a:srgbClr val="333333"/>
            </a:solidFill>
            <a:prstDash val="solid"/>
          </a:ln>
        </p:spPr>
        <p:txBody>
          <a:bodyPr/>
          <a:lstStyle/>
          <a:p>
            <a:endParaRPr lang="en-US"/>
          </a:p>
        </p:txBody>
      </p:sp>
      <p:sp>
        <p:nvSpPr>
          <p:cNvPr id="12" name="Shape 10"/>
          <p:cNvSpPr/>
          <p:nvPr/>
        </p:nvSpPr>
        <p:spPr>
          <a:xfrm>
            <a:off x="3246120" y="1463040"/>
            <a:ext cx="2560320" cy="2194560"/>
          </a:xfrm>
          <a:prstGeom prst="rect">
            <a:avLst/>
          </a:prstGeom>
          <a:solidFill>
            <a:srgbClr val="1E1E1E"/>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13" name="Text 11"/>
          <p:cNvSpPr/>
          <p:nvPr/>
        </p:nvSpPr>
        <p:spPr>
          <a:xfrm>
            <a:off x="3246120" y="1481328"/>
            <a:ext cx="2560320" cy="320040"/>
          </a:xfrm>
          <a:prstGeom prst="rect">
            <a:avLst/>
          </a:prstGeom>
          <a:noFill/>
          <a:ln/>
        </p:spPr>
        <p:txBody>
          <a:bodyPr wrap="square" lIns="0" tIns="0" rIns="0" bIns="0" rtlCol="0" anchor="ctr"/>
          <a:lstStyle/>
          <a:p>
            <a:pPr marL="0" indent="0" algn="ctr">
              <a:buNone/>
            </a:pPr>
            <a:r>
              <a:rPr lang="en-US" sz="900" kern="0" spc="200" dirty="0">
                <a:solidFill>
                  <a:srgbClr val="888888"/>
                </a:solidFill>
                <a:latin typeface="Calibri" pitchFamily="34" charset="0"/>
                <a:ea typeface="Calibri" pitchFamily="34" charset="-122"/>
                <a:cs typeface="Calibri" pitchFamily="34" charset="-120"/>
              </a:rPr>
              <a:t>Mid April</a:t>
            </a:r>
            <a:endParaRPr lang="en-US" sz="900" dirty="0"/>
          </a:p>
        </p:txBody>
      </p:sp>
      <p:sp>
        <p:nvSpPr>
          <p:cNvPr id="14" name="Text 12"/>
          <p:cNvSpPr/>
          <p:nvPr/>
        </p:nvSpPr>
        <p:spPr>
          <a:xfrm>
            <a:off x="3246120" y="1810512"/>
            <a:ext cx="25603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The Pivot</a:t>
            </a:r>
            <a:endParaRPr lang="en-US" sz="1600" dirty="0"/>
          </a:p>
        </p:txBody>
      </p:sp>
      <p:sp>
        <p:nvSpPr>
          <p:cNvPr id="15" name="Text 13"/>
          <p:cNvSpPr/>
          <p:nvPr/>
        </p:nvSpPr>
        <p:spPr>
          <a:xfrm>
            <a:off x="3383280" y="2359152"/>
            <a:ext cx="2286000" cy="1097280"/>
          </a:xfrm>
          <a:prstGeom prst="rect">
            <a:avLst/>
          </a:prstGeom>
          <a:noFill/>
          <a:ln/>
        </p:spPr>
        <p:txBody>
          <a:bodyPr wrap="square" lIns="0" tIns="0" rIns="0" bIns="0" rtlCol="0" anchor="ctr"/>
          <a:lstStyle/>
          <a:p>
            <a:pPr marL="0" indent="0" algn="ctr">
              <a:buNone/>
            </a:pPr>
            <a:r>
              <a:rPr lang="en-US" sz="1100" dirty="0">
                <a:solidFill>
                  <a:srgbClr val="AAAAAA"/>
                </a:solidFill>
                <a:latin typeface="Calibri" pitchFamily="34" charset="0"/>
                <a:ea typeface="Calibri" pitchFamily="34" charset="-122"/>
                <a:cs typeface="Calibri" pitchFamily="34" charset="-120"/>
              </a:rPr>
              <a:t>Recognized greater opportunity in AI-assisted academic advising</a:t>
            </a:r>
            <a:endParaRPr lang="en-US" sz="1100" dirty="0"/>
          </a:p>
        </p:txBody>
      </p:sp>
      <p:sp>
        <p:nvSpPr>
          <p:cNvPr id="16" name="Shape 14"/>
          <p:cNvSpPr/>
          <p:nvPr/>
        </p:nvSpPr>
        <p:spPr>
          <a:xfrm>
            <a:off x="6080760" y="1325880"/>
            <a:ext cx="2560320" cy="54864"/>
          </a:xfrm>
          <a:prstGeom prst="rect">
            <a:avLst/>
          </a:prstGeom>
          <a:solidFill>
            <a:srgbClr val="2A8A2A"/>
          </a:solidFill>
          <a:ln w="12700">
            <a:solidFill>
              <a:srgbClr val="333333"/>
            </a:solidFill>
            <a:prstDash val="solid"/>
          </a:ln>
        </p:spPr>
        <p:txBody>
          <a:bodyPr/>
          <a:lstStyle/>
          <a:p>
            <a:endParaRPr lang="en-US"/>
          </a:p>
        </p:txBody>
      </p:sp>
      <p:sp>
        <p:nvSpPr>
          <p:cNvPr id="17" name="Shape 15"/>
          <p:cNvSpPr/>
          <p:nvPr/>
        </p:nvSpPr>
        <p:spPr>
          <a:xfrm>
            <a:off x="7315200" y="1115568"/>
            <a:ext cx="91440" cy="228600"/>
          </a:xfrm>
          <a:prstGeom prst="rect">
            <a:avLst/>
          </a:prstGeom>
          <a:solidFill>
            <a:srgbClr val="2A8A2A"/>
          </a:solidFill>
          <a:ln w="12700">
            <a:solidFill>
              <a:srgbClr val="333333"/>
            </a:solidFill>
            <a:prstDash val="solid"/>
          </a:ln>
        </p:spPr>
        <p:txBody>
          <a:bodyPr/>
          <a:lstStyle/>
          <a:p>
            <a:endParaRPr lang="en-US"/>
          </a:p>
        </p:txBody>
      </p:sp>
      <p:sp>
        <p:nvSpPr>
          <p:cNvPr id="18" name="Shape 16"/>
          <p:cNvSpPr/>
          <p:nvPr/>
        </p:nvSpPr>
        <p:spPr>
          <a:xfrm>
            <a:off x="6080760" y="1463040"/>
            <a:ext cx="2560320" cy="2194560"/>
          </a:xfrm>
          <a:prstGeom prst="rect">
            <a:avLst/>
          </a:prstGeom>
          <a:solidFill>
            <a:srgbClr val="1E1E1E"/>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19" name="Text 17"/>
          <p:cNvSpPr/>
          <p:nvPr/>
        </p:nvSpPr>
        <p:spPr>
          <a:xfrm>
            <a:off x="6080760" y="1481328"/>
            <a:ext cx="2560320" cy="320040"/>
          </a:xfrm>
          <a:prstGeom prst="rect">
            <a:avLst/>
          </a:prstGeom>
          <a:noFill/>
          <a:ln/>
        </p:spPr>
        <p:txBody>
          <a:bodyPr wrap="square" lIns="0" tIns="0" rIns="0" bIns="0" rtlCol="0" anchor="ctr"/>
          <a:lstStyle/>
          <a:p>
            <a:pPr marL="0" indent="0" algn="ctr">
              <a:buNone/>
            </a:pPr>
            <a:r>
              <a:rPr lang="en-US" sz="900" kern="0" spc="200" dirty="0">
                <a:solidFill>
                  <a:srgbClr val="888888"/>
                </a:solidFill>
                <a:latin typeface="Calibri" pitchFamily="34" charset="0"/>
                <a:ea typeface="Calibri" pitchFamily="34" charset="-122"/>
                <a:cs typeface="Calibri" pitchFamily="34" charset="-120"/>
              </a:rPr>
              <a:t>Late April → Now</a:t>
            </a:r>
            <a:endParaRPr lang="en-US" sz="900" dirty="0"/>
          </a:p>
        </p:txBody>
      </p:sp>
      <p:sp>
        <p:nvSpPr>
          <p:cNvPr id="20" name="Text 18"/>
          <p:cNvSpPr/>
          <p:nvPr/>
        </p:nvSpPr>
        <p:spPr>
          <a:xfrm>
            <a:off x="6080760" y="1810512"/>
            <a:ext cx="25603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Pathfinder</a:t>
            </a:r>
            <a:endParaRPr lang="en-US" sz="1600" dirty="0"/>
          </a:p>
        </p:txBody>
      </p:sp>
      <p:sp>
        <p:nvSpPr>
          <p:cNvPr id="21" name="Text 19"/>
          <p:cNvSpPr/>
          <p:nvPr/>
        </p:nvSpPr>
        <p:spPr>
          <a:xfrm>
            <a:off x="6217920" y="2359152"/>
            <a:ext cx="2286000" cy="1097280"/>
          </a:xfrm>
          <a:prstGeom prst="rect">
            <a:avLst/>
          </a:prstGeom>
          <a:noFill/>
          <a:ln/>
        </p:spPr>
        <p:txBody>
          <a:bodyPr wrap="square" lIns="0" tIns="0" rIns="0" bIns="0" rtlCol="0" anchor="ctr"/>
          <a:lstStyle/>
          <a:p>
            <a:pPr marL="0" indent="0" algn="ctr">
              <a:buNone/>
            </a:pPr>
            <a:r>
              <a:rPr lang="en-US" sz="1100" dirty="0">
                <a:solidFill>
                  <a:srgbClr val="AAAAAA"/>
                </a:solidFill>
                <a:latin typeface="Calibri" pitchFamily="34" charset="0"/>
                <a:ea typeface="Calibri" pitchFamily="34" charset="-122"/>
                <a:cs typeface="Calibri" pitchFamily="34" charset="-120"/>
              </a:rPr>
              <a:t>Full-stack AI scheduler tailored to Wittenberg's real catalog</a:t>
            </a:r>
            <a:endParaRPr lang="en-US" sz="1100" dirty="0"/>
          </a:p>
        </p:txBody>
      </p:sp>
      <p:sp>
        <p:nvSpPr>
          <p:cNvPr id="22" name="Text 20"/>
          <p:cNvSpPr/>
          <p:nvPr/>
        </p:nvSpPr>
        <p:spPr>
          <a:xfrm>
            <a:off x="411480" y="3931920"/>
            <a:ext cx="8321040" cy="731520"/>
          </a:xfrm>
          <a:prstGeom prst="rect">
            <a:avLst/>
          </a:prstGeom>
          <a:noFill/>
          <a:ln/>
        </p:spPr>
        <p:txBody>
          <a:bodyPr wrap="square" lIns="0" tIns="0" rIns="0" bIns="0" rtlCol="0" anchor="ctr"/>
          <a:lstStyle/>
          <a:p>
            <a:pPr marL="0" indent="0" algn="ctr">
              <a:buNone/>
            </a:pPr>
            <a:r>
              <a:rPr lang="en-US" sz="1300" i="1" dirty="0">
                <a:solidFill>
                  <a:srgbClr val="BBBBBB"/>
                </a:solidFill>
                <a:latin typeface="Calibri" pitchFamily="34" charset="0"/>
                <a:ea typeface="Calibri" pitchFamily="34" charset="-122"/>
                <a:cs typeface="Calibri" pitchFamily="34" charset="-120"/>
              </a:rPr>
              <a:t>Pivoting mid-semester meant compressing months of development into weeks — but it produced something meaningfully more impactful.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PROJECT GOALS</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What Pathfinder Sets Out to Do</a:t>
            </a:r>
            <a:endParaRPr lang="en-US" sz="2800" dirty="0"/>
          </a:p>
        </p:txBody>
      </p:sp>
      <p:pic>
        <p:nvPicPr>
          <p:cNvPr id="5" name="Image 0" descr="preencoded.png"/>
          <p:cNvPicPr>
            <a:picLocks noChangeAspect="1"/>
          </p:cNvPicPr>
          <p:nvPr/>
        </p:nvPicPr>
        <p:blipFill>
          <a:blip r:embed="rId3"/>
          <a:stretch>
            <a:fillRect/>
          </a:stretch>
        </p:blipFill>
        <p:spPr>
          <a:xfrm>
            <a:off x="411480" y="1353312"/>
            <a:ext cx="384048" cy="384048"/>
          </a:xfrm>
          <a:prstGeom prst="rect">
            <a:avLst/>
          </a:prstGeom>
        </p:spPr>
      </p:pic>
      <p:sp>
        <p:nvSpPr>
          <p:cNvPr id="6" name="Text 3"/>
          <p:cNvSpPr/>
          <p:nvPr/>
        </p:nvSpPr>
        <p:spPr>
          <a:xfrm>
            <a:off x="411480" y="1755648"/>
            <a:ext cx="384048" cy="201168"/>
          </a:xfrm>
          <a:prstGeom prst="rect">
            <a:avLst/>
          </a:prstGeom>
          <a:noFill/>
          <a:ln/>
        </p:spPr>
        <p:txBody>
          <a:bodyPr wrap="square" lIns="0" tIns="0" rIns="0" bIns="0" rtlCol="0" anchor="ctr"/>
          <a:lstStyle/>
          <a:p>
            <a:pPr marL="0" indent="0" algn="ctr">
              <a:buNone/>
            </a:pPr>
            <a:r>
              <a:rPr lang="en-US" sz="800" b="1" kern="0" spc="200" dirty="0">
                <a:solidFill>
                  <a:srgbClr val="CC0000"/>
                </a:solidFill>
                <a:latin typeface="Calibri" pitchFamily="34" charset="0"/>
                <a:ea typeface="Calibri" pitchFamily="34" charset="-122"/>
                <a:cs typeface="Calibri" pitchFamily="34" charset="-120"/>
              </a:rPr>
              <a:t>01</a:t>
            </a:r>
            <a:endParaRPr lang="en-US" sz="800" dirty="0"/>
          </a:p>
        </p:txBody>
      </p:sp>
      <p:sp>
        <p:nvSpPr>
          <p:cNvPr id="7" name="Text 4"/>
          <p:cNvSpPr/>
          <p:nvPr/>
        </p:nvSpPr>
        <p:spPr>
          <a:xfrm>
            <a:off x="960120" y="1307592"/>
            <a:ext cx="3200400" cy="32004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Conversational advising</a:t>
            </a:r>
            <a:endParaRPr lang="en-US" sz="1300" dirty="0"/>
          </a:p>
        </p:txBody>
      </p:sp>
      <p:sp>
        <p:nvSpPr>
          <p:cNvPr id="8" name="Text 5"/>
          <p:cNvSpPr/>
          <p:nvPr/>
        </p:nvSpPr>
        <p:spPr>
          <a:xfrm>
            <a:off x="960120" y="1627632"/>
            <a:ext cx="7680960" cy="347472"/>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A chatbot that understands plain-English requests and adjusts your degree plan in real time.</a:t>
            </a:r>
            <a:endParaRPr lang="en-US" sz="1100" dirty="0"/>
          </a:p>
        </p:txBody>
      </p:sp>
      <p:sp>
        <p:nvSpPr>
          <p:cNvPr id="9" name="Shape 6"/>
          <p:cNvSpPr/>
          <p:nvPr/>
        </p:nvSpPr>
        <p:spPr>
          <a:xfrm>
            <a:off x="411480" y="1975104"/>
            <a:ext cx="8321040" cy="9144"/>
          </a:xfrm>
          <a:prstGeom prst="rect">
            <a:avLst/>
          </a:prstGeom>
          <a:solidFill>
            <a:srgbClr val="E8E8E8"/>
          </a:solidFill>
          <a:ln w="12700">
            <a:solidFill>
              <a:srgbClr val="333333"/>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11480" y="2103120"/>
            <a:ext cx="384048" cy="384048"/>
          </a:xfrm>
          <a:prstGeom prst="rect">
            <a:avLst/>
          </a:prstGeom>
        </p:spPr>
      </p:pic>
      <p:sp>
        <p:nvSpPr>
          <p:cNvPr id="11" name="Text 7"/>
          <p:cNvSpPr/>
          <p:nvPr/>
        </p:nvSpPr>
        <p:spPr>
          <a:xfrm>
            <a:off x="411480" y="2505456"/>
            <a:ext cx="384048" cy="201168"/>
          </a:xfrm>
          <a:prstGeom prst="rect">
            <a:avLst/>
          </a:prstGeom>
          <a:noFill/>
          <a:ln/>
        </p:spPr>
        <p:txBody>
          <a:bodyPr wrap="square" lIns="0" tIns="0" rIns="0" bIns="0" rtlCol="0" anchor="ctr"/>
          <a:lstStyle/>
          <a:p>
            <a:pPr marL="0" indent="0" algn="ctr">
              <a:buNone/>
            </a:pPr>
            <a:r>
              <a:rPr lang="en-US" sz="800" b="1" kern="0" spc="200" dirty="0">
                <a:solidFill>
                  <a:srgbClr val="CC0000"/>
                </a:solidFill>
                <a:latin typeface="Calibri" pitchFamily="34" charset="0"/>
                <a:ea typeface="Calibri" pitchFamily="34" charset="-122"/>
                <a:cs typeface="Calibri" pitchFamily="34" charset="-120"/>
              </a:rPr>
              <a:t>02</a:t>
            </a:r>
            <a:endParaRPr lang="en-US" sz="800" dirty="0"/>
          </a:p>
        </p:txBody>
      </p:sp>
      <p:sp>
        <p:nvSpPr>
          <p:cNvPr id="12" name="Text 8"/>
          <p:cNvSpPr/>
          <p:nvPr/>
        </p:nvSpPr>
        <p:spPr>
          <a:xfrm>
            <a:off x="960120" y="2057400"/>
            <a:ext cx="3200400" cy="32004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Smart schedule generation</a:t>
            </a:r>
            <a:endParaRPr lang="en-US" sz="1300" dirty="0"/>
          </a:p>
        </p:txBody>
      </p:sp>
      <p:sp>
        <p:nvSpPr>
          <p:cNvPr id="13" name="Text 9"/>
          <p:cNvSpPr/>
          <p:nvPr/>
        </p:nvSpPr>
        <p:spPr>
          <a:xfrm>
            <a:off x="960120" y="2377440"/>
            <a:ext cx="7680960" cy="347472"/>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Three ranked plan alternatives (Balanced, Accelerated, Lighter Load) with workload scoring.</a:t>
            </a:r>
            <a:endParaRPr lang="en-US" sz="1100" dirty="0"/>
          </a:p>
        </p:txBody>
      </p:sp>
      <p:sp>
        <p:nvSpPr>
          <p:cNvPr id="14" name="Shape 10"/>
          <p:cNvSpPr/>
          <p:nvPr/>
        </p:nvSpPr>
        <p:spPr>
          <a:xfrm>
            <a:off x="411480" y="2724912"/>
            <a:ext cx="8321040" cy="9144"/>
          </a:xfrm>
          <a:prstGeom prst="rect">
            <a:avLst/>
          </a:prstGeom>
          <a:solidFill>
            <a:srgbClr val="E8E8E8"/>
          </a:solidFill>
          <a:ln w="12700">
            <a:solidFill>
              <a:srgbClr val="333333"/>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411480" y="2852928"/>
            <a:ext cx="384048" cy="384048"/>
          </a:xfrm>
          <a:prstGeom prst="rect">
            <a:avLst/>
          </a:prstGeom>
        </p:spPr>
      </p:pic>
      <p:sp>
        <p:nvSpPr>
          <p:cNvPr id="16" name="Text 11"/>
          <p:cNvSpPr/>
          <p:nvPr/>
        </p:nvSpPr>
        <p:spPr>
          <a:xfrm>
            <a:off x="411480" y="3255264"/>
            <a:ext cx="384048" cy="201168"/>
          </a:xfrm>
          <a:prstGeom prst="rect">
            <a:avLst/>
          </a:prstGeom>
          <a:noFill/>
          <a:ln/>
        </p:spPr>
        <p:txBody>
          <a:bodyPr wrap="square" lIns="0" tIns="0" rIns="0" bIns="0" rtlCol="0" anchor="ctr"/>
          <a:lstStyle/>
          <a:p>
            <a:pPr marL="0" indent="0" algn="ctr">
              <a:buNone/>
            </a:pPr>
            <a:r>
              <a:rPr lang="en-US" sz="800" b="1" kern="0" spc="200" dirty="0">
                <a:solidFill>
                  <a:srgbClr val="CC0000"/>
                </a:solidFill>
                <a:latin typeface="Calibri" pitchFamily="34" charset="0"/>
                <a:ea typeface="Calibri" pitchFamily="34" charset="-122"/>
                <a:cs typeface="Calibri" pitchFamily="34" charset="-120"/>
              </a:rPr>
              <a:t>03</a:t>
            </a:r>
            <a:endParaRPr lang="en-US" sz="800" dirty="0"/>
          </a:p>
        </p:txBody>
      </p:sp>
      <p:sp>
        <p:nvSpPr>
          <p:cNvPr id="17" name="Text 12"/>
          <p:cNvSpPr/>
          <p:nvPr/>
        </p:nvSpPr>
        <p:spPr>
          <a:xfrm>
            <a:off x="960120" y="2807208"/>
            <a:ext cx="3200400" cy="32004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Prerequisite enforcement</a:t>
            </a:r>
            <a:endParaRPr lang="en-US" sz="1300" dirty="0"/>
          </a:p>
        </p:txBody>
      </p:sp>
      <p:sp>
        <p:nvSpPr>
          <p:cNvPr id="18" name="Text 13"/>
          <p:cNvSpPr/>
          <p:nvPr/>
        </p:nvSpPr>
        <p:spPr>
          <a:xfrm>
            <a:off x="960120" y="3127248"/>
            <a:ext cx="7680960" cy="347472"/>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Block invalid course completions. Warn when course sequences are at risk.</a:t>
            </a:r>
            <a:endParaRPr lang="en-US" sz="1100" dirty="0"/>
          </a:p>
        </p:txBody>
      </p:sp>
      <p:sp>
        <p:nvSpPr>
          <p:cNvPr id="19" name="Shape 14"/>
          <p:cNvSpPr/>
          <p:nvPr/>
        </p:nvSpPr>
        <p:spPr>
          <a:xfrm>
            <a:off x="411480" y="3474720"/>
            <a:ext cx="8321040" cy="9144"/>
          </a:xfrm>
          <a:prstGeom prst="rect">
            <a:avLst/>
          </a:prstGeom>
          <a:solidFill>
            <a:srgbClr val="E8E8E8"/>
          </a:solidFill>
          <a:ln w="12700">
            <a:solidFill>
              <a:srgbClr val="333333"/>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411480" y="3602736"/>
            <a:ext cx="384048" cy="384048"/>
          </a:xfrm>
          <a:prstGeom prst="rect">
            <a:avLst/>
          </a:prstGeom>
        </p:spPr>
      </p:pic>
      <p:sp>
        <p:nvSpPr>
          <p:cNvPr id="21" name="Text 15"/>
          <p:cNvSpPr/>
          <p:nvPr/>
        </p:nvSpPr>
        <p:spPr>
          <a:xfrm>
            <a:off x="411480" y="4005072"/>
            <a:ext cx="384048" cy="201168"/>
          </a:xfrm>
          <a:prstGeom prst="rect">
            <a:avLst/>
          </a:prstGeom>
          <a:noFill/>
          <a:ln/>
        </p:spPr>
        <p:txBody>
          <a:bodyPr wrap="square" lIns="0" tIns="0" rIns="0" bIns="0" rtlCol="0" anchor="ctr"/>
          <a:lstStyle/>
          <a:p>
            <a:pPr marL="0" indent="0" algn="ctr">
              <a:buNone/>
            </a:pPr>
            <a:r>
              <a:rPr lang="en-US" sz="800" b="1" kern="0" spc="200" dirty="0">
                <a:solidFill>
                  <a:srgbClr val="CC0000"/>
                </a:solidFill>
                <a:latin typeface="Calibri" pitchFamily="34" charset="0"/>
                <a:ea typeface="Calibri" pitchFamily="34" charset="-122"/>
                <a:cs typeface="Calibri" pitchFamily="34" charset="-120"/>
              </a:rPr>
              <a:t>04</a:t>
            </a:r>
            <a:endParaRPr lang="en-US" sz="800" dirty="0"/>
          </a:p>
        </p:txBody>
      </p:sp>
      <p:sp>
        <p:nvSpPr>
          <p:cNvPr id="22" name="Text 16"/>
          <p:cNvSpPr/>
          <p:nvPr/>
        </p:nvSpPr>
        <p:spPr>
          <a:xfrm>
            <a:off x="960120" y="3557016"/>
            <a:ext cx="3200400" cy="32004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Progress visualization</a:t>
            </a:r>
            <a:endParaRPr lang="en-US" sz="1300" dirty="0"/>
          </a:p>
        </p:txBody>
      </p:sp>
      <p:sp>
        <p:nvSpPr>
          <p:cNvPr id="23" name="Text 17"/>
          <p:cNvSpPr/>
          <p:nvPr/>
        </p:nvSpPr>
        <p:spPr>
          <a:xfrm>
            <a:off x="960120" y="3877056"/>
            <a:ext cx="7680960" cy="347472"/>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Live credit breakdown by category. Prereq dependency map. Major comparison view.</a:t>
            </a:r>
            <a:endParaRPr lang="en-US" sz="1100" dirty="0"/>
          </a:p>
        </p:txBody>
      </p:sp>
      <p:sp>
        <p:nvSpPr>
          <p:cNvPr id="24" name="Shape 18"/>
          <p:cNvSpPr/>
          <p:nvPr/>
        </p:nvSpPr>
        <p:spPr>
          <a:xfrm>
            <a:off x="411480" y="4224528"/>
            <a:ext cx="8321040" cy="9144"/>
          </a:xfrm>
          <a:prstGeom prst="rect">
            <a:avLst/>
          </a:prstGeom>
          <a:solidFill>
            <a:srgbClr val="E8E8E8"/>
          </a:solidFill>
          <a:ln w="12700">
            <a:solidFill>
              <a:srgbClr val="333333"/>
            </a:solidFill>
            <a:prstDash val="solid"/>
          </a:ln>
        </p:spPr>
        <p:txBody>
          <a:bodyPr/>
          <a:lstStyle/>
          <a:p>
            <a:endParaRPr lang="en-US"/>
          </a:p>
        </p:txBody>
      </p:sp>
      <p:pic>
        <p:nvPicPr>
          <p:cNvPr id="25" name="Image 4" descr="preencoded.png"/>
          <p:cNvPicPr>
            <a:picLocks noChangeAspect="1"/>
          </p:cNvPicPr>
          <p:nvPr/>
        </p:nvPicPr>
        <p:blipFill>
          <a:blip r:embed="rId7"/>
          <a:stretch>
            <a:fillRect/>
          </a:stretch>
        </p:blipFill>
        <p:spPr>
          <a:xfrm>
            <a:off x="411480" y="4352544"/>
            <a:ext cx="384048" cy="384048"/>
          </a:xfrm>
          <a:prstGeom prst="rect">
            <a:avLst/>
          </a:prstGeom>
        </p:spPr>
      </p:pic>
      <p:sp>
        <p:nvSpPr>
          <p:cNvPr id="26" name="Text 19"/>
          <p:cNvSpPr/>
          <p:nvPr/>
        </p:nvSpPr>
        <p:spPr>
          <a:xfrm>
            <a:off x="411480" y="4754880"/>
            <a:ext cx="384048" cy="201168"/>
          </a:xfrm>
          <a:prstGeom prst="rect">
            <a:avLst/>
          </a:prstGeom>
          <a:noFill/>
          <a:ln/>
        </p:spPr>
        <p:txBody>
          <a:bodyPr wrap="square" lIns="0" tIns="0" rIns="0" bIns="0" rtlCol="0" anchor="ctr"/>
          <a:lstStyle/>
          <a:p>
            <a:pPr marL="0" indent="0" algn="ctr">
              <a:buNone/>
            </a:pPr>
            <a:r>
              <a:rPr lang="en-US" sz="800" b="1" kern="0" spc="200" dirty="0">
                <a:solidFill>
                  <a:srgbClr val="CC0000"/>
                </a:solidFill>
                <a:latin typeface="Calibri" pitchFamily="34" charset="0"/>
                <a:ea typeface="Calibri" pitchFamily="34" charset="-122"/>
                <a:cs typeface="Calibri" pitchFamily="34" charset="-120"/>
              </a:rPr>
              <a:t>05</a:t>
            </a:r>
            <a:endParaRPr lang="en-US" sz="800" dirty="0"/>
          </a:p>
        </p:txBody>
      </p:sp>
      <p:sp>
        <p:nvSpPr>
          <p:cNvPr id="27" name="Text 20"/>
          <p:cNvSpPr/>
          <p:nvPr/>
        </p:nvSpPr>
        <p:spPr>
          <a:xfrm>
            <a:off x="960120" y="4306824"/>
            <a:ext cx="3200400" cy="320040"/>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Persistent session state</a:t>
            </a:r>
            <a:endParaRPr lang="en-US" sz="1300" dirty="0"/>
          </a:p>
        </p:txBody>
      </p:sp>
      <p:sp>
        <p:nvSpPr>
          <p:cNvPr id="28" name="Text 21"/>
          <p:cNvSpPr/>
          <p:nvPr/>
        </p:nvSpPr>
        <p:spPr>
          <a:xfrm>
            <a:off x="960120" y="4626864"/>
            <a:ext cx="7680960" cy="347472"/>
          </a:xfrm>
          <a:prstGeom prst="rect">
            <a:avLst/>
          </a:prstGeom>
          <a:noFill/>
          <a:ln/>
        </p:spPr>
        <p:txBody>
          <a:bodyPr wrap="square" lIns="0" tIns="0" rIns="0" bIns="0" rtlCol="0" anchor="ctr"/>
          <a:lstStyle/>
          <a:p>
            <a:pPr marL="0" indent="0" algn="l">
              <a:buNone/>
            </a:pPr>
            <a:r>
              <a:rPr lang="en-US" sz="1100" dirty="0">
                <a:solidFill>
                  <a:srgbClr val="6B6B6B"/>
                </a:solidFill>
                <a:latin typeface="Calibri" pitchFamily="34" charset="0"/>
                <a:ea typeface="Calibri" pitchFamily="34" charset="-122"/>
                <a:cs typeface="Calibri" pitchFamily="34" charset="-120"/>
              </a:rPr>
              <a:t>The chatbot remembers who you are and what you've said — no re-entering info each message.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ARCHITECTURE</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How It Works — System Architecture</a:t>
            </a:r>
            <a:endParaRPr lang="en-US" sz="2800" dirty="0"/>
          </a:p>
        </p:txBody>
      </p:sp>
      <p:sp>
        <p:nvSpPr>
          <p:cNvPr id="5" name="Shape 3"/>
          <p:cNvSpPr/>
          <p:nvPr/>
        </p:nvSpPr>
        <p:spPr>
          <a:xfrm>
            <a:off x="274320" y="1325880"/>
            <a:ext cx="1508760" cy="1417320"/>
          </a:xfrm>
          <a:prstGeom prst="rect">
            <a:avLst/>
          </a:prstGeom>
          <a:solidFill>
            <a:srgbClr val="E8E8E8"/>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6" name="Text 4"/>
          <p:cNvSpPr/>
          <p:nvPr/>
        </p:nvSpPr>
        <p:spPr>
          <a:xfrm>
            <a:off x="274320" y="1417320"/>
            <a:ext cx="1508760" cy="594360"/>
          </a:xfrm>
          <a:prstGeom prst="rect">
            <a:avLst/>
          </a:prstGeom>
          <a:noFill/>
          <a:ln/>
        </p:spPr>
        <p:txBody>
          <a:bodyPr wrap="square" lIns="0" tIns="0" rIns="0" bIns="0" rtlCol="0" anchor="ctr"/>
          <a:lstStyle/>
          <a:p>
            <a:pPr marL="0" indent="0" algn="ctr">
              <a:buNone/>
            </a:pPr>
            <a:r>
              <a:rPr lang="en-US" sz="1300" b="1" dirty="0">
                <a:solidFill>
                  <a:srgbClr val="111111"/>
                </a:solidFill>
                <a:latin typeface="Georgia" pitchFamily="34" charset="0"/>
                <a:ea typeface="Georgia" pitchFamily="34" charset="-122"/>
                <a:cs typeface="Georgia" pitchFamily="34" charset="-120"/>
              </a:rPr>
              <a:t>User</a:t>
            </a:r>
            <a:endParaRPr lang="en-US" sz="1300" dirty="0"/>
          </a:p>
        </p:txBody>
      </p:sp>
      <p:sp>
        <p:nvSpPr>
          <p:cNvPr id="7" name="Text 5"/>
          <p:cNvSpPr/>
          <p:nvPr/>
        </p:nvSpPr>
        <p:spPr>
          <a:xfrm>
            <a:off x="274320" y="2029968"/>
            <a:ext cx="1508760" cy="658368"/>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Types or clicks</a:t>
            </a:r>
            <a:endParaRPr lang="en-US" sz="900" dirty="0"/>
          </a:p>
        </p:txBody>
      </p:sp>
      <p:sp>
        <p:nvSpPr>
          <p:cNvPr id="8" name="Shape 6"/>
          <p:cNvSpPr/>
          <p:nvPr/>
        </p:nvSpPr>
        <p:spPr>
          <a:xfrm>
            <a:off x="1783080" y="1965960"/>
            <a:ext cx="411480" cy="54864"/>
          </a:xfrm>
          <a:prstGeom prst="rect">
            <a:avLst/>
          </a:prstGeom>
          <a:solidFill>
            <a:srgbClr val="CC0000"/>
          </a:solidFill>
          <a:ln w="12700">
            <a:solidFill>
              <a:srgbClr val="333333"/>
            </a:solidFill>
            <a:prstDash val="solid"/>
          </a:ln>
        </p:spPr>
        <p:txBody>
          <a:bodyPr/>
          <a:lstStyle/>
          <a:p>
            <a:endParaRPr lang="en-US"/>
          </a:p>
        </p:txBody>
      </p:sp>
      <p:sp>
        <p:nvSpPr>
          <p:cNvPr id="9" name="Text 7"/>
          <p:cNvSpPr/>
          <p:nvPr/>
        </p:nvSpPr>
        <p:spPr>
          <a:xfrm>
            <a:off x="2011680" y="1828800"/>
            <a:ext cx="182880" cy="365760"/>
          </a:xfrm>
          <a:prstGeom prst="rect">
            <a:avLst/>
          </a:prstGeom>
          <a:noFill/>
          <a:ln/>
        </p:spPr>
        <p:txBody>
          <a:bodyPr wrap="square" lIns="0" tIns="0" rIns="0" bIns="0" rtlCol="0" anchor="ctr"/>
          <a:lstStyle/>
          <a:p>
            <a:pPr marL="0" indent="0" algn="ctr">
              <a:buNone/>
            </a:pPr>
            <a:r>
              <a:rPr lang="en-US" sz="1600" b="1" dirty="0">
                <a:solidFill>
                  <a:srgbClr val="CC000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1920240" y="1325880"/>
            <a:ext cx="1508760" cy="1417320"/>
          </a:xfrm>
          <a:prstGeom prst="rect">
            <a:avLst/>
          </a:prstGeom>
          <a:solidFill>
            <a:srgbClr val="F5E0E0"/>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11" name="Text 9"/>
          <p:cNvSpPr/>
          <p:nvPr/>
        </p:nvSpPr>
        <p:spPr>
          <a:xfrm>
            <a:off x="1920240" y="1417320"/>
            <a:ext cx="1508760" cy="594360"/>
          </a:xfrm>
          <a:prstGeom prst="rect">
            <a:avLst/>
          </a:prstGeom>
          <a:noFill/>
          <a:ln/>
        </p:spPr>
        <p:txBody>
          <a:bodyPr wrap="square" lIns="0" tIns="0" rIns="0" bIns="0" rtlCol="0" anchor="ctr"/>
          <a:lstStyle/>
          <a:p>
            <a:pPr marL="0" indent="0" algn="ctr">
              <a:buNone/>
            </a:pPr>
            <a:r>
              <a:rPr lang="en-US" sz="1300" b="1" dirty="0">
                <a:solidFill>
                  <a:srgbClr val="111111"/>
                </a:solidFill>
                <a:latin typeface="Georgia" pitchFamily="34" charset="0"/>
                <a:ea typeface="Georgia" pitchFamily="34" charset="-122"/>
                <a:cs typeface="Georgia" pitchFamily="34" charset="-120"/>
              </a:rPr>
              <a:t>Frontend</a:t>
            </a:r>
            <a:endParaRPr lang="en-US" sz="1300" dirty="0"/>
          </a:p>
        </p:txBody>
      </p:sp>
      <p:sp>
        <p:nvSpPr>
          <p:cNvPr id="12" name="Text 10"/>
          <p:cNvSpPr/>
          <p:nvPr/>
        </p:nvSpPr>
        <p:spPr>
          <a:xfrm>
            <a:off x="1920240" y="2029968"/>
            <a:ext cx="1508760" cy="658368"/>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HTML / UI</a:t>
            </a:r>
            <a:endParaRPr lang="en-US" sz="900" dirty="0"/>
          </a:p>
          <a:p>
            <a:pPr marL="0" indent="0" algn="ctr">
              <a:buNone/>
            </a:pPr>
            <a:r>
              <a:rPr lang="en-US" sz="900" dirty="0">
                <a:solidFill>
                  <a:srgbClr val="888888"/>
                </a:solidFill>
                <a:latin typeface="Calibri" pitchFamily="34" charset="0"/>
                <a:ea typeface="Calibri" pitchFamily="34" charset="-122"/>
                <a:cs typeface="Calibri" pitchFamily="34" charset="-120"/>
              </a:rPr>
              <a:t>(index.html)</a:t>
            </a:r>
            <a:endParaRPr lang="en-US" sz="900" dirty="0"/>
          </a:p>
        </p:txBody>
      </p:sp>
      <p:sp>
        <p:nvSpPr>
          <p:cNvPr id="13" name="Shape 11"/>
          <p:cNvSpPr/>
          <p:nvPr/>
        </p:nvSpPr>
        <p:spPr>
          <a:xfrm>
            <a:off x="3429000" y="1965960"/>
            <a:ext cx="411480" cy="54864"/>
          </a:xfrm>
          <a:prstGeom prst="rect">
            <a:avLst/>
          </a:prstGeom>
          <a:solidFill>
            <a:srgbClr val="CC0000"/>
          </a:solidFill>
          <a:ln w="12700">
            <a:solidFill>
              <a:srgbClr val="333333"/>
            </a:solidFill>
            <a:prstDash val="solid"/>
          </a:ln>
        </p:spPr>
        <p:txBody>
          <a:bodyPr/>
          <a:lstStyle/>
          <a:p>
            <a:endParaRPr lang="en-US"/>
          </a:p>
        </p:txBody>
      </p:sp>
      <p:sp>
        <p:nvSpPr>
          <p:cNvPr id="14" name="Text 12"/>
          <p:cNvSpPr/>
          <p:nvPr/>
        </p:nvSpPr>
        <p:spPr>
          <a:xfrm>
            <a:off x="3657600" y="1828800"/>
            <a:ext cx="182880" cy="365760"/>
          </a:xfrm>
          <a:prstGeom prst="rect">
            <a:avLst/>
          </a:prstGeom>
          <a:noFill/>
          <a:ln/>
        </p:spPr>
        <p:txBody>
          <a:bodyPr wrap="square" lIns="0" tIns="0" rIns="0" bIns="0" rtlCol="0" anchor="ctr"/>
          <a:lstStyle/>
          <a:p>
            <a:pPr marL="0" indent="0" algn="ctr">
              <a:buNone/>
            </a:pPr>
            <a:r>
              <a:rPr lang="en-US" sz="1600" b="1" dirty="0">
                <a:solidFill>
                  <a:srgbClr val="CC0000"/>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3566160" y="1325880"/>
            <a:ext cx="1508760" cy="1417320"/>
          </a:xfrm>
          <a:prstGeom prst="rect">
            <a:avLst/>
          </a:prstGeom>
          <a:solidFill>
            <a:srgbClr val="CC0000"/>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16" name="Text 14"/>
          <p:cNvSpPr/>
          <p:nvPr/>
        </p:nvSpPr>
        <p:spPr>
          <a:xfrm>
            <a:off x="3566160" y="1417320"/>
            <a:ext cx="15087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FastAPI</a:t>
            </a:r>
            <a:endParaRPr lang="en-US" sz="1300" dirty="0"/>
          </a:p>
          <a:p>
            <a:pPr marL="0" indent="0" algn="ctr">
              <a:buNone/>
            </a:pPr>
            <a:r>
              <a:rPr lang="en-US" sz="1300" b="1" dirty="0">
                <a:solidFill>
                  <a:srgbClr val="FFFFFF"/>
                </a:solidFill>
                <a:latin typeface="Georgia" pitchFamily="34" charset="0"/>
                <a:ea typeface="Georgia" pitchFamily="34" charset="-122"/>
                <a:cs typeface="Georgia" pitchFamily="34" charset="-120"/>
              </a:rPr>
              <a:t>Backend</a:t>
            </a:r>
            <a:endParaRPr lang="en-US" sz="1300" dirty="0"/>
          </a:p>
        </p:txBody>
      </p:sp>
      <p:sp>
        <p:nvSpPr>
          <p:cNvPr id="17" name="Text 15"/>
          <p:cNvSpPr/>
          <p:nvPr/>
        </p:nvSpPr>
        <p:spPr>
          <a:xfrm>
            <a:off x="3566160" y="2029968"/>
            <a:ext cx="1508760" cy="658368"/>
          </a:xfrm>
          <a:prstGeom prst="rect">
            <a:avLst/>
          </a:prstGeom>
          <a:noFill/>
          <a:ln/>
        </p:spPr>
        <p:txBody>
          <a:bodyPr wrap="square" lIns="0" tIns="0" rIns="0" bIns="0" rtlCol="0" anchor="ctr"/>
          <a:lstStyle/>
          <a:p>
            <a:pPr marL="0" indent="0" algn="ctr">
              <a:buNone/>
            </a:pPr>
            <a:r>
              <a:rPr lang="en-US" sz="900" dirty="0">
                <a:solidFill>
                  <a:srgbClr val="CCCCCC"/>
                </a:solidFill>
                <a:latin typeface="Calibri" pitchFamily="34" charset="0"/>
                <a:ea typeface="Calibri" pitchFamily="34" charset="-122"/>
                <a:cs typeface="Calibri" pitchFamily="34" charset="-120"/>
              </a:rPr>
              <a:t>Port 8000</a:t>
            </a:r>
            <a:endParaRPr lang="en-US" sz="900" dirty="0"/>
          </a:p>
          <a:p>
            <a:pPr marL="0" indent="0" algn="ctr">
              <a:buNone/>
            </a:pPr>
            <a:r>
              <a:rPr lang="en-US" sz="900" dirty="0">
                <a:solidFill>
                  <a:srgbClr val="CCCCCC"/>
                </a:solidFill>
                <a:latin typeface="Calibri" pitchFamily="34" charset="0"/>
                <a:ea typeface="Calibri" pitchFamily="34" charset="-122"/>
                <a:cs typeface="Calibri" pitchFamily="34" charset="-120"/>
              </a:rPr>
              <a:t>(main.py)</a:t>
            </a:r>
            <a:endParaRPr lang="en-US" sz="900" dirty="0"/>
          </a:p>
        </p:txBody>
      </p:sp>
      <p:sp>
        <p:nvSpPr>
          <p:cNvPr id="18" name="Shape 16"/>
          <p:cNvSpPr/>
          <p:nvPr/>
        </p:nvSpPr>
        <p:spPr>
          <a:xfrm>
            <a:off x="5074920" y="1965960"/>
            <a:ext cx="411480" cy="54864"/>
          </a:xfrm>
          <a:prstGeom prst="rect">
            <a:avLst/>
          </a:prstGeom>
          <a:solidFill>
            <a:srgbClr val="CC0000"/>
          </a:solidFill>
          <a:ln w="12700">
            <a:solidFill>
              <a:srgbClr val="333333"/>
            </a:solidFill>
            <a:prstDash val="solid"/>
          </a:ln>
        </p:spPr>
        <p:txBody>
          <a:bodyPr/>
          <a:lstStyle/>
          <a:p>
            <a:endParaRPr lang="en-US"/>
          </a:p>
        </p:txBody>
      </p:sp>
      <p:sp>
        <p:nvSpPr>
          <p:cNvPr id="19" name="Text 17"/>
          <p:cNvSpPr/>
          <p:nvPr/>
        </p:nvSpPr>
        <p:spPr>
          <a:xfrm>
            <a:off x="5303520" y="1828800"/>
            <a:ext cx="182880" cy="365760"/>
          </a:xfrm>
          <a:prstGeom prst="rect">
            <a:avLst/>
          </a:prstGeom>
          <a:noFill/>
          <a:ln/>
        </p:spPr>
        <p:txBody>
          <a:bodyPr wrap="square" lIns="0" tIns="0" rIns="0" bIns="0" rtlCol="0" anchor="ctr"/>
          <a:lstStyle/>
          <a:p>
            <a:pPr marL="0" indent="0" algn="ctr">
              <a:buNone/>
            </a:pPr>
            <a:r>
              <a:rPr lang="en-US" sz="1600" b="1" dirty="0">
                <a:solidFill>
                  <a:srgbClr val="CC0000"/>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5212080" y="1325880"/>
            <a:ext cx="1508760" cy="1417320"/>
          </a:xfrm>
          <a:prstGeom prst="rect">
            <a:avLst/>
          </a:prstGeom>
          <a:solidFill>
            <a:srgbClr val="2C2C2C"/>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21" name="Text 19"/>
          <p:cNvSpPr/>
          <p:nvPr/>
        </p:nvSpPr>
        <p:spPr>
          <a:xfrm>
            <a:off x="5212080" y="1417320"/>
            <a:ext cx="1508760" cy="59436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AI Logic</a:t>
            </a:r>
            <a:endParaRPr lang="en-US" sz="1300" dirty="0"/>
          </a:p>
        </p:txBody>
      </p:sp>
      <p:sp>
        <p:nvSpPr>
          <p:cNvPr id="22" name="Text 20"/>
          <p:cNvSpPr/>
          <p:nvPr/>
        </p:nvSpPr>
        <p:spPr>
          <a:xfrm>
            <a:off x="5212080" y="2029968"/>
            <a:ext cx="1508760" cy="658368"/>
          </a:xfrm>
          <a:prstGeom prst="rect">
            <a:avLst/>
          </a:prstGeom>
          <a:noFill/>
          <a:ln/>
        </p:spPr>
        <p:txBody>
          <a:bodyPr wrap="square" lIns="0" tIns="0" rIns="0" bIns="0" rtlCol="0" anchor="ctr"/>
          <a:lstStyle/>
          <a:p>
            <a:pPr marL="0" indent="0" algn="ctr">
              <a:buNone/>
            </a:pPr>
            <a:r>
              <a:rPr lang="en-US" sz="900" dirty="0">
                <a:solidFill>
                  <a:srgbClr val="CCCCCC"/>
                </a:solidFill>
                <a:latin typeface="Calibri" pitchFamily="34" charset="0"/>
                <a:ea typeface="Calibri" pitchFamily="34" charset="-122"/>
                <a:cs typeface="Calibri" pitchFamily="34" charset="-120"/>
              </a:rPr>
              <a:t>Scheduler</a:t>
            </a:r>
            <a:endParaRPr lang="en-US" sz="900" dirty="0"/>
          </a:p>
          <a:p>
            <a:pPr marL="0" indent="0" algn="ctr">
              <a:buNone/>
            </a:pPr>
            <a:r>
              <a:rPr lang="en-US" sz="900" dirty="0">
                <a:solidFill>
                  <a:srgbClr val="CCCCCC"/>
                </a:solidFill>
                <a:latin typeface="Calibri" pitchFamily="34" charset="0"/>
                <a:ea typeface="Calibri" pitchFamily="34" charset="-122"/>
                <a:cs typeface="Calibri" pitchFamily="34" charset="-120"/>
              </a:rPr>
              <a:t>Chatbot</a:t>
            </a:r>
            <a:endParaRPr lang="en-US" sz="900" dirty="0"/>
          </a:p>
        </p:txBody>
      </p:sp>
      <p:sp>
        <p:nvSpPr>
          <p:cNvPr id="23" name="Shape 21"/>
          <p:cNvSpPr/>
          <p:nvPr/>
        </p:nvSpPr>
        <p:spPr>
          <a:xfrm>
            <a:off x="6720840" y="1965960"/>
            <a:ext cx="411480" cy="54864"/>
          </a:xfrm>
          <a:prstGeom prst="rect">
            <a:avLst/>
          </a:prstGeom>
          <a:solidFill>
            <a:srgbClr val="CC0000"/>
          </a:solidFill>
          <a:ln w="12700">
            <a:solidFill>
              <a:srgbClr val="333333"/>
            </a:solidFill>
            <a:prstDash val="solid"/>
          </a:ln>
        </p:spPr>
        <p:txBody>
          <a:bodyPr/>
          <a:lstStyle/>
          <a:p>
            <a:endParaRPr lang="en-US"/>
          </a:p>
        </p:txBody>
      </p:sp>
      <p:sp>
        <p:nvSpPr>
          <p:cNvPr id="24" name="Text 22"/>
          <p:cNvSpPr/>
          <p:nvPr/>
        </p:nvSpPr>
        <p:spPr>
          <a:xfrm>
            <a:off x="6949440" y="1828800"/>
            <a:ext cx="182880" cy="365760"/>
          </a:xfrm>
          <a:prstGeom prst="rect">
            <a:avLst/>
          </a:prstGeom>
          <a:noFill/>
          <a:ln/>
        </p:spPr>
        <p:txBody>
          <a:bodyPr wrap="square" lIns="0" tIns="0" rIns="0" bIns="0" rtlCol="0" anchor="ctr"/>
          <a:lstStyle/>
          <a:p>
            <a:pPr marL="0" indent="0" algn="ctr">
              <a:buNone/>
            </a:pPr>
            <a:r>
              <a:rPr lang="en-US" sz="1600" b="1" dirty="0">
                <a:solidFill>
                  <a:srgbClr val="CC00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6858000" y="1325880"/>
            <a:ext cx="1508760" cy="1417320"/>
          </a:xfrm>
          <a:prstGeom prst="rect">
            <a:avLst/>
          </a:prstGeom>
          <a:solidFill>
            <a:srgbClr val="E8E8E8"/>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26" name="Text 24"/>
          <p:cNvSpPr/>
          <p:nvPr/>
        </p:nvSpPr>
        <p:spPr>
          <a:xfrm>
            <a:off x="6858000" y="1417320"/>
            <a:ext cx="1508760" cy="594360"/>
          </a:xfrm>
          <a:prstGeom prst="rect">
            <a:avLst/>
          </a:prstGeom>
          <a:noFill/>
          <a:ln/>
        </p:spPr>
        <p:txBody>
          <a:bodyPr wrap="square" lIns="0" tIns="0" rIns="0" bIns="0" rtlCol="0" anchor="ctr"/>
          <a:lstStyle/>
          <a:p>
            <a:pPr marL="0" indent="0" algn="ctr">
              <a:buNone/>
            </a:pPr>
            <a:r>
              <a:rPr lang="en-US" sz="1300" b="1" dirty="0">
                <a:solidFill>
                  <a:srgbClr val="111111"/>
                </a:solidFill>
                <a:latin typeface="Georgia" pitchFamily="34" charset="0"/>
                <a:ea typeface="Georgia" pitchFamily="34" charset="-122"/>
                <a:cs typeface="Georgia" pitchFamily="34" charset="-120"/>
              </a:rPr>
              <a:t>Data &amp;</a:t>
            </a:r>
            <a:endParaRPr lang="en-US" sz="1300" dirty="0"/>
          </a:p>
          <a:p>
            <a:pPr marL="0" indent="0" algn="ctr">
              <a:buNone/>
            </a:pPr>
            <a:r>
              <a:rPr lang="en-US" sz="1300" b="1" dirty="0">
                <a:solidFill>
                  <a:srgbClr val="111111"/>
                </a:solidFill>
                <a:latin typeface="Georgia" pitchFamily="34" charset="0"/>
                <a:ea typeface="Georgia" pitchFamily="34" charset="-122"/>
                <a:cs typeface="Georgia" pitchFamily="34" charset="-120"/>
              </a:rPr>
              <a:t>Session</a:t>
            </a:r>
            <a:endParaRPr lang="en-US" sz="1300" dirty="0"/>
          </a:p>
        </p:txBody>
      </p:sp>
      <p:sp>
        <p:nvSpPr>
          <p:cNvPr id="27" name="Text 25"/>
          <p:cNvSpPr/>
          <p:nvPr/>
        </p:nvSpPr>
        <p:spPr>
          <a:xfrm>
            <a:off x="6858000" y="2029968"/>
            <a:ext cx="1508760" cy="658368"/>
          </a:xfrm>
          <a:prstGeom prst="rect">
            <a:avLst/>
          </a:prstGeom>
          <a:noFill/>
          <a:ln/>
        </p:spPr>
        <p:txBody>
          <a:bodyPr wrap="square" lIns="0" tIns="0" rIns="0" bIns="0" rtlCol="0" anchor="ctr"/>
          <a:lstStyle/>
          <a:p>
            <a:pPr marL="0" indent="0" algn="ctr">
              <a:buNone/>
            </a:pPr>
            <a:r>
              <a:rPr lang="en-US" sz="900" dirty="0">
                <a:solidFill>
                  <a:srgbClr val="888888"/>
                </a:solidFill>
                <a:latin typeface="Calibri" pitchFamily="34" charset="0"/>
                <a:ea typeface="Calibri" pitchFamily="34" charset="-122"/>
                <a:cs typeface="Calibri" pitchFamily="34" charset="-120"/>
              </a:rPr>
              <a:t>data.py</a:t>
            </a:r>
            <a:endParaRPr lang="en-US" sz="900" dirty="0"/>
          </a:p>
          <a:p>
            <a:pPr marL="0" indent="0" algn="ctr">
              <a:buNone/>
            </a:pPr>
            <a:r>
              <a:rPr lang="en-US" sz="900" dirty="0">
                <a:solidFill>
                  <a:srgbClr val="888888"/>
                </a:solidFill>
                <a:latin typeface="Calibri" pitchFamily="34" charset="0"/>
                <a:ea typeface="Calibri" pitchFamily="34" charset="-122"/>
                <a:cs typeface="Calibri" pitchFamily="34" charset="-120"/>
              </a:rPr>
              <a:t>session.py</a:t>
            </a:r>
            <a:endParaRPr lang="en-US" sz="900" dirty="0"/>
          </a:p>
        </p:txBody>
      </p:sp>
      <p:sp>
        <p:nvSpPr>
          <p:cNvPr id="28" name="Text 26"/>
          <p:cNvSpPr/>
          <p:nvPr/>
        </p:nvSpPr>
        <p:spPr>
          <a:xfrm>
            <a:off x="457200" y="2971800"/>
            <a:ext cx="8229600" cy="384048"/>
          </a:xfrm>
          <a:prstGeom prst="rect">
            <a:avLst/>
          </a:prstGeom>
          <a:noFill/>
          <a:ln/>
        </p:spPr>
        <p:txBody>
          <a:bodyPr wrap="square" rtlCol="0" anchor="ctr"/>
          <a:lstStyle/>
          <a:p>
            <a:pPr marL="342900" indent="-342900">
              <a:buSzPct val="100000"/>
              <a:buChar char="•"/>
            </a:pPr>
            <a:r>
              <a:rPr lang="en-US" sz="1200" dirty="0">
                <a:solidFill>
                  <a:srgbClr val="2C2C2C"/>
                </a:solidFill>
                <a:latin typeface="Calibri" pitchFamily="34" charset="0"/>
                <a:ea typeface="Calibri" pitchFamily="34" charset="-122"/>
                <a:cs typeface="Calibri" pitchFamily="34" charset="-120"/>
              </a:rPr>
              <a:t>No database yet — all state is managed in-memory on the backend during a session</a:t>
            </a:r>
            <a:endParaRPr lang="en-US" sz="1200" dirty="0"/>
          </a:p>
        </p:txBody>
      </p:sp>
      <p:sp>
        <p:nvSpPr>
          <p:cNvPr id="29" name="Text 27"/>
          <p:cNvSpPr/>
          <p:nvPr/>
        </p:nvSpPr>
        <p:spPr>
          <a:xfrm>
            <a:off x="457200" y="3383280"/>
            <a:ext cx="8229600" cy="384048"/>
          </a:xfrm>
          <a:prstGeom prst="rect">
            <a:avLst/>
          </a:prstGeom>
          <a:noFill/>
          <a:ln/>
        </p:spPr>
        <p:txBody>
          <a:bodyPr wrap="square" rtlCol="0" anchor="ctr"/>
          <a:lstStyle/>
          <a:p>
            <a:pPr marL="342900" indent="-342900">
              <a:buSzPct val="100000"/>
              <a:buChar char="•"/>
            </a:pPr>
            <a:r>
              <a:rPr lang="en-US" sz="1200" dirty="0">
                <a:solidFill>
                  <a:srgbClr val="2C2C2C"/>
                </a:solidFill>
                <a:latin typeface="Calibri" pitchFamily="34" charset="0"/>
                <a:ea typeface="Calibri" pitchFamily="34" charset="-122"/>
                <a:cs typeface="Calibri" pitchFamily="34" charset="-120"/>
              </a:rPr>
              <a:t>Backend is the single source of truth — frontend never stores logic, only displays</a:t>
            </a:r>
            <a:endParaRPr lang="en-US" sz="1200" dirty="0"/>
          </a:p>
        </p:txBody>
      </p:sp>
      <p:sp>
        <p:nvSpPr>
          <p:cNvPr id="30" name="Text 28"/>
          <p:cNvSpPr/>
          <p:nvPr/>
        </p:nvSpPr>
        <p:spPr>
          <a:xfrm>
            <a:off x="457200" y="3794760"/>
            <a:ext cx="8229600" cy="384048"/>
          </a:xfrm>
          <a:prstGeom prst="rect">
            <a:avLst/>
          </a:prstGeom>
          <a:noFill/>
          <a:ln/>
        </p:spPr>
        <p:txBody>
          <a:bodyPr wrap="square" rtlCol="0" anchor="ctr"/>
          <a:lstStyle/>
          <a:p>
            <a:pPr marL="342900" indent="-342900">
              <a:buSzPct val="100000"/>
              <a:buChar char="•"/>
            </a:pPr>
            <a:r>
              <a:rPr lang="en-US" sz="1200" dirty="0">
                <a:solidFill>
                  <a:srgbClr val="2C2C2C"/>
                </a:solidFill>
                <a:latin typeface="Calibri" pitchFamily="34" charset="0"/>
                <a:ea typeface="Calibri" pitchFamily="34" charset="-122"/>
                <a:cs typeface="Calibri" pitchFamily="34" charset="-120"/>
              </a:rPr>
              <a:t>Future version: connect to a real database and Wittenberg's Self-Service API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TECHNOLOGY</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Technology Stack</a:t>
            </a:r>
            <a:endParaRPr lang="en-US" sz="2800" dirty="0"/>
          </a:p>
        </p:txBody>
      </p:sp>
      <p:sp>
        <p:nvSpPr>
          <p:cNvPr id="5" name="Shape 3"/>
          <p:cNvSpPr/>
          <p:nvPr/>
        </p:nvSpPr>
        <p:spPr>
          <a:xfrm>
            <a:off x="411480" y="1298448"/>
            <a:ext cx="2606040" cy="141732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435608"/>
            <a:ext cx="365760" cy="365760"/>
          </a:xfrm>
          <a:prstGeom prst="rect">
            <a:avLst/>
          </a:prstGeom>
        </p:spPr>
      </p:pic>
      <p:sp>
        <p:nvSpPr>
          <p:cNvPr id="7" name="Text 4"/>
          <p:cNvSpPr/>
          <p:nvPr/>
        </p:nvSpPr>
        <p:spPr>
          <a:xfrm>
            <a:off x="1005840" y="1435608"/>
            <a:ext cx="192024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Python 3.10</a:t>
            </a:r>
            <a:endParaRPr lang="en-US" sz="1300" dirty="0"/>
          </a:p>
        </p:txBody>
      </p:sp>
      <p:sp>
        <p:nvSpPr>
          <p:cNvPr id="8" name="Text 5"/>
          <p:cNvSpPr/>
          <p:nvPr/>
        </p:nvSpPr>
        <p:spPr>
          <a:xfrm>
            <a:off x="1005840" y="1783080"/>
            <a:ext cx="1920240" cy="256032"/>
          </a:xfrm>
          <a:prstGeom prst="rect">
            <a:avLst/>
          </a:prstGeom>
          <a:noFill/>
          <a:ln/>
        </p:spPr>
        <p:txBody>
          <a:bodyPr wrap="square" lIns="0" tIns="0" rIns="0" bIns="0" rtlCol="0" anchor="ctr"/>
          <a:lstStyle/>
          <a:p>
            <a:pPr marL="0" indent="0" algn="l">
              <a:buNone/>
            </a:pPr>
            <a:r>
              <a:rPr lang="en-US" sz="900" dirty="0">
                <a:solidFill>
                  <a:srgbClr val="CC0000"/>
                </a:solidFill>
                <a:latin typeface="Calibri" pitchFamily="34" charset="0"/>
                <a:ea typeface="Calibri" pitchFamily="34" charset="-122"/>
                <a:cs typeface="Calibri" pitchFamily="34" charset="-120"/>
              </a:rPr>
              <a:t>Backend language</a:t>
            </a:r>
            <a:endParaRPr lang="en-US" sz="900" dirty="0"/>
          </a:p>
        </p:txBody>
      </p:sp>
      <p:sp>
        <p:nvSpPr>
          <p:cNvPr id="9" name="Text 6"/>
          <p:cNvSpPr/>
          <p:nvPr/>
        </p:nvSpPr>
        <p:spPr>
          <a:xfrm>
            <a:off x="548640" y="2103120"/>
            <a:ext cx="2331720" cy="56692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Clean, readable, and excellent library support for web APIs and data processing.</a:t>
            </a:r>
            <a:endParaRPr lang="en-US" sz="950" dirty="0"/>
          </a:p>
        </p:txBody>
      </p:sp>
      <p:sp>
        <p:nvSpPr>
          <p:cNvPr id="10" name="Shape 7"/>
          <p:cNvSpPr/>
          <p:nvPr/>
        </p:nvSpPr>
        <p:spPr>
          <a:xfrm>
            <a:off x="3246120" y="1298448"/>
            <a:ext cx="2606040" cy="141732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3383280" y="1435608"/>
            <a:ext cx="365760" cy="365760"/>
          </a:xfrm>
          <a:prstGeom prst="rect">
            <a:avLst/>
          </a:prstGeom>
        </p:spPr>
      </p:pic>
      <p:sp>
        <p:nvSpPr>
          <p:cNvPr id="12" name="Text 8"/>
          <p:cNvSpPr/>
          <p:nvPr/>
        </p:nvSpPr>
        <p:spPr>
          <a:xfrm>
            <a:off x="3840480" y="1435608"/>
            <a:ext cx="192024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FastAPI</a:t>
            </a:r>
            <a:endParaRPr lang="en-US" sz="1300" dirty="0"/>
          </a:p>
        </p:txBody>
      </p:sp>
      <p:sp>
        <p:nvSpPr>
          <p:cNvPr id="13" name="Text 9"/>
          <p:cNvSpPr/>
          <p:nvPr/>
        </p:nvSpPr>
        <p:spPr>
          <a:xfrm>
            <a:off x="3840480" y="1783080"/>
            <a:ext cx="1920240" cy="256032"/>
          </a:xfrm>
          <a:prstGeom prst="rect">
            <a:avLst/>
          </a:prstGeom>
          <a:noFill/>
          <a:ln/>
        </p:spPr>
        <p:txBody>
          <a:bodyPr wrap="square" lIns="0" tIns="0" rIns="0" bIns="0" rtlCol="0" anchor="ctr"/>
          <a:lstStyle/>
          <a:p>
            <a:pPr marL="0" indent="0" algn="l">
              <a:buNone/>
            </a:pPr>
            <a:r>
              <a:rPr lang="en-US" sz="900" dirty="0">
                <a:solidFill>
                  <a:srgbClr val="CC0000"/>
                </a:solidFill>
                <a:latin typeface="Calibri" pitchFamily="34" charset="0"/>
                <a:ea typeface="Calibri" pitchFamily="34" charset="-122"/>
                <a:cs typeface="Calibri" pitchFamily="34" charset="-120"/>
              </a:rPr>
              <a:t>Web framework</a:t>
            </a:r>
            <a:endParaRPr lang="en-US" sz="900" dirty="0"/>
          </a:p>
        </p:txBody>
      </p:sp>
      <p:sp>
        <p:nvSpPr>
          <p:cNvPr id="14" name="Text 10"/>
          <p:cNvSpPr/>
          <p:nvPr/>
        </p:nvSpPr>
        <p:spPr>
          <a:xfrm>
            <a:off x="3383280" y="2103120"/>
            <a:ext cx="2331720" cy="56692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Automatic API documentation, async support, request validation via Pydantic.</a:t>
            </a:r>
            <a:endParaRPr lang="en-US" sz="950" dirty="0"/>
          </a:p>
        </p:txBody>
      </p:sp>
      <p:sp>
        <p:nvSpPr>
          <p:cNvPr id="15" name="Shape 11"/>
          <p:cNvSpPr/>
          <p:nvPr/>
        </p:nvSpPr>
        <p:spPr>
          <a:xfrm>
            <a:off x="6080760" y="1298448"/>
            <a:ext cx="2606040" cy="141732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6217920" y="1435608"/>
            <a:ext cx="365760" cy="365760"/>
          </a:xfrm>
          <a:prstGeom prst="rect">
            <a:avLst/>
          </a:prstGeom>
        </p:spPr>
      </p:pic>
      <p:sp>
        <p:nvSpPr>
          <p:cNvPr id="17" name="Text 12"/>
          <p:cNvSpPr/>
          <p:nvPr/>
        </p:nvSpPr>
        <p:spPr>
          <a:xfrm>
            <a:off x="6675120" y="1435608"/>
            <a:ext cx="192024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Rule-Based AI</a:t>
            </a:r>
            <a:endParaRPr lang="en-US" sz="1300" dirty="0"/>
          </a:p>
        </p:txBody>
      </p:sp>
      <p:sp>
        <p:nvSpPr>
          <p:cNvPr id="18" name="Text 13"/>
          <p:cNvSpPr/>
          <p:nvPr/>
        </p:nvSpPr>
        <p:spPr>
          <a:xfrm>
            <a:off x="6675120" y="1783080"/>
            <a:ext cx="1920240" cy="256032"/>
          </a:xfrm>
          <a:prstGeom prst="rect">
            <a:avLst/>
          </a:prstGeom>
          <a:noFill/>
          <a:ln/>
        </p:spPr>
        <p:txBody>
          <a:bodyPr wrap="square" lIns="0" tIns="0" rIns="0" bIns="0" rtlCol="0" anchor="ctr"/>
          <a:lstStyle/>
          <a:p>
            <a:pPr marL="0" indent="0" algn="l">
              <a:buNone/>
            </a:pPr>
            <a:r>
              <a:rPr lang="en-US" sz="900" dirty="0">
                <a:solidFill>
                  <a:srgbClr val="CC0000"/>
                </a:solidFill>
                <a:latin typeface="Calibri" pitchFamily="34" charset="0"/>
                <a:ea typeface="Calibri" pitchFamily="34" charset="-122"/>
                <a:cs typeface="Calibri" pitchFamily="34" charset="-120"/>
              </a:rPr>
              <a:t>Chatbot engine</a:t>
            </a:r>
            <a:endParaRPr lang="en-US" sz="900" dirty="0"/>
          </a:p>
        </p:txBody>
      </p:sp>
      <p:sp>
        <p:nvSpPr>
          <p:cNvPr id="19" name="Text 14"/>
          <p:cNvSpPr/>
          <p:nvPr/>
        </p:nvSpPr>
        <p:spPr>
          <a:xfrm>
            <a:off x="6217920" y="2103120"/>
            <a:ext cx="2331720" cy="56692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Intent classification and parameter extraction — no external AI API required.</a:t>
            </a:r>
            <a:endParaRPr lang="en-US" sz="950" dirty="0"/>
          </a:p>
        </p:txBody>
      </p:sp>
      <p:sp>
        <p:nvSpPr>
          <p:cNvPr id="20" name="Shape 15"/>
          <p:cNvSpPr/>
          <p:nvPr/>
        </p:nvSpPr>
        <p:spPr>
          <a:xfrm>
            <a:off x="411480" y="2898648"/>
            <a:ext cx="2606040" cy="141732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548640" y="3035808"/>
            <a:ext cx="365760" cy="365760"/>
          </a:xfrm>
          <a:prstGeom prst="rect">
            <a:avLst/>
          </a:prstGeom>
        </p:spPr>
      </p:pic>
      <p:sp>
        <p:nvSpPr>
          <p:cNvPr id="22" name="Text 16"/>
          <p:cNvSpPr/>
          <p:nvPr/>
        </p:nvSpPr>
        <p:spPr>
          <a:xfrm>
            <a:off x="1005840" y="3035808"/>
            <a:ext cx="192024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CSP Scheduler</a:t>
            </a:r>
            <a:endParaRPr lang="en-US" sz="1300" dirty="0"/>
          </a:p>
        </p:txBody>
      </p:sp>
      <p:sp>
        <p:nvSpPr>
          <p:cNvPr id="23" name="Text 17"/>
          <p:cNvSpPr/>
          <p:nvPr/>
        </p:nvSpPr>
        <p:spPr>
          <a:xfrm>
            <a:off x="1005840" y="3383280"/>
            <a:ext cx="1920240" cy="256032"/>
          </a:xfrm>
          <a:prstGeom prst="rect">
            <a:avLst/>
          </a:prstGeom>
          <a:noFill/>
          <a:ln/>
        </p:spPr>
        <p:txBody>
          <a:bodyPr wrap="square" lIns="0" tIns="0" rIns="0" bIns="0" rtlCol="0" anchor="ctr"/>
          <a:lstStyle/>
          <a:p>
            <a:pPr marL="0" indent="0" algn="l">
              <a:buNone/>
            </a:pPr>
            <a:r>
              <a:rPr lang="en-US" sz="900" dirty="0">
                <a:solidFill>
                  <a:srgbClr val="CC0000"/>
                </a:solidFill>
                <a:latin typeface="Calibri" pitchFamily="34" charset="0"/>
                <a:ea typeface="Calibri" pitchFamily="34" charset="-122"/>
                <a:cs typeface="Calibri" pitchFamily="34" charset="-120"/>
              </a:rPr>
              <a:t>Plan generation</a:t>
            </a:r>
            <a:endParaRPr lang="en-US" sz="900" dirty="0"/>
          </a:p>
        </p:txBody>
      </p:sp>
      <p:sp>
        <p:nvSpPr>
          <p:cNvPr id="24" name="Text 18"/>
          <p:cNvSpPr/>
          <p:nvPr/>
        </p:nvSpPr>
        <p:spPr>
          <a:xfrm>
            <a:off x="548640" y="3703320"/>
            <a:ext cx="2331720" cy="56692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Constraint satisfaction approach respects prereqs, credit limits, and preferences.</a:t>
            </a:r>
            <a:endParaRPr lang="en-US" sz="950" dirty="0"/>
          </a:p>
        </p:txBody>
      </p:sp>
      <p:sp>
        <p:nvSpPr>
          <p:cNvPr id="25" name="Shape 19"/>
          <p:cNvSpPr/>
          <p:nvPr/>
        </p:nvSpPr>
        <p:spPr>
          <a:xfrm>
            <a:off x="3246120" y="2924797"/>
            <a:ext cx="2606040" cy="141732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26" name="Image 4" descr="preencoded.png"/>
          <p:cNvPicPr>
            <a:picLocks noChangeAspect="1"/>
          </p:cNvPicPr>
          <p:nvPr/>
        </p:nvPicPr>
        <p:blipFill>
          <a:blip r:embed="rId7"/>
          <a:stretch>
            <a:fillRect/>
          </a:stretch>
        </p:blipFill>
        <p:spPr>
          <a:xfrm>
            <a:off x="3383280" y="3035648"/>
            <a:ext cx="365760" cy="365760"/>
          </a:xfrm>
          <a:prstGeom prst="rect">
            <a:avLst/>
          </a:prstGeom>
        </p:spPr>
      </p:pic>
      <p:sp>
        <p:nvSpPr>
          <p:cNvPr id="27" name="Text 20"/>
          <p:cNvSpPr/>
          <p:nvPr/>
        </p:nvSpPr>
        <p:spPr>
          <a:xfrm>
            <a:off x="3840480" y="3035648"/>
            <a:ext cx="192024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In-Memory State</a:t>
            </a:r>
            <a:endParaRPr lang="en-US" sz="1300" dirty="0"/>
          </a:p>
        </p:txBody>
      </p:sp>
      <p:sp>
        <p:nvSpPr>
          <p:cNvPr id="28" name="Text 21"/>
          <p:cNvSpPr/>
          <p:nvPr/>
        </p:nvSpPr>
        <p:spPr>
          <a:xfrm>
            <a:off x="3840480" y="3383120"/>
            <a:ext cx="1920240" cy="256032"/>
          </a:xfrm>
          <a:prstGeom prst="rect">
            <a:avLst/>
          </a:prstGeom>
          <a:noFill/>
          <a:ln/>
        </p:spPr>
        <p:txBody>
          <a:bodyPr wrap="square" lIns="0" tIns="0" rIns="0" bIns="0" rtlCol="0" anchor="ctr"/>
          <a:lstStyle/>
          <a:p>
            <a:pPr marL="0" indent="0" algn="l">
              <a:buNone/>
            </a:pPr>
            <a:r>
              <a:rPr lang="en-US" sz="900" dirty="0">
                <a:solidFill>
                  <a:srgbClr val="CC0000"/>
                </a:solidFill>
                <a:latin typeface="Calibri" pitchFamily="34" charset="0"/>
                <a:ea typeface="Calibri" pitchFamily="34" charset="-122"/>
                <a:cs typeface="Calibri" pitchFamily="34" charset="-120"/>
              </a:rPr>
              <a:t>Session storage</a:t>
            </a:r>
            <a:endParaRPr lang="en-US" sz="900" dirty="0"/>
          </a:p>
        </p:txBody>
      </p:sp>
      <p:sp>
        <p:nvSpPr>
          <p:cNvPr id="29" name="Text 22"/>
          <p:cNvSpPr/>
          <p:nvPr/>
        </p:nvSpPr>
        <p:spPr>
          <a:xfrm>
            <a:off x="3383280" y="3703160"/>
            <a:ext cx="2331720" cy="56692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Fast, simple prototype-appropriate storage. Designed for database migration.</a:t>
            </a:r>
            <a:endParaRPr lang="en-US" sz="950" dirty="0"/>
          </a:p>
        </p:txBody>
      </p:sp>
      <p:sp>
        <p:nvSpPr>
          <p:cNvPr id="30" name="Shape 23"/>
          <p:cNvSpPr/>
          <p:nvPr/>
        </p:nvSpPr>
        <p:spPr>
          <a:xfrm>
            <a:off x="6080760" y="2898648"/>
            <a:ext cx="2606040" cy="141732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31" name="Image 5" descr="preencoded.png"/>
          <p:cNvPicPr>
            <a:picLocks noChangeAspect="1"/>
          </p:cNvPicPr>
          <p:nvPr/>
        </p:nvPicPr>
        <p:blipFill>
          <a:blip r:embed="rId8"/>
          <a:stretch>
            <a:fillRect/>
          </a:stretch>
        </p:blipFill>
        <p:spPr>
          <a:xfrm>
            <a:off x="6217920" y="3035808"/>
            <a:ext cx="365760" cy="365760"/>
          </a:xfrm>
          <a:prstGeom prst="rect">
            <a:avLst/>
          </a:prstGeom>
        </p:spPr>
      </p:pic>
      <p:sp>
        <p:nvSpPr>
          <p:cNvPr id="32" name="Text 24"/>
          <p:cNvSpPr/>
          <p:nvPr/>
        </p:nvSpPr>
        <p:spPr>
          <a:xfrm>
            <a:off x="6675120" y="3035808"/>
            <a:ext cx="192024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HTML / JS</a:t>
            </a:r>
            <a:endParaRPr lang="en-US" sz="1300" dirty="0"/>
          </a:p>
        </p:txBody>
      </p:sp>
      <p:sp>
        <p:nvSpPr>
          <p:cNvPr id="33" name="Text 25"/>
          <p:cNvSpPr/>
          <p:nvPr/>
        </p:nvSpPr>
        <p:spPr>
          <a:xfrm>
            <a:off x="6675120" y="3383280"/>
            <a:ext cx="1920240" cy="256032"/>
          </a:xfrm>
          <a:prstGeom prst="rect">
            <a:avLst/>
          </a:prstGeom>
          <a:noFill/>
          <a:ln/>
        </p:spPr>
        <p:txBody>
          <a:bodyPr wrap="square" lIns="0" tIns="0" rIns="0" bIns="0" rtlCol="0" anchor="ctr"/>
          <a:lstStyle/>
          <a:p>
            <a:pPr marL="0" indent="0" algn="l">
              <a:buNone/>
            </a:pPr>
            <a:r>
              <a:rPr lang="en-US" sz="900" dirty="0">
                <a:solidFill>
                  <a:srgbClr val="CC0000"/>
                </a:solidFill>
                <a:latin typeface="Calibri" pitchFamily="34" charset="0"/>
                <a:ea typeface="Calibri" pitchFamily="34" charset="-122"/>
                <a:cs typeface="Calibri" pitchFamily="34" charset="-120"/>
              </a:rPr>
              <a:t>Frontend</a:t>
            </a:r>
            <a:endParaRPr lang="en-US" sz="900" dirty="0"/>
          </a:p>
        </p:txBody>
      </p:sp>
      <p:sp>
        <p:nvSpPr>
          <p:cNvPr id="34" name="Text 26"/>
          <p:cNvSpPr/>
          <p:nvPr/>
        </p:nvSpPr>
        <p:spPr>
          <a:xfrm>
            <a:off x="6217920" y="3703320"/>
            <a:ext cx="2331720" cy="56692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Single-page application — no framework needed. Clean, fast, backend-driven.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SPRINT DEVELOPMENT</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Development Timeline — April to May</a:t>
            </a:r>
            <a:endParaRPr lang="en-US" sz="2800" dirty="0"/>
          </a:p>
        </p:txBody>
      </p:sp>
      <p:sp>
        <p:nvSpPr>
          <p:cNvPr id="5" name="Shape 3"/>
          <p:cNvSpPr/>
          <p:nvPr/>
        </p:nvSpPr>
        <p:spPr>
          <a:xfrm>
            <a:off x="2194560" y="1965960"/>
            <a:ext cx="274320" cy="54864"/>
          </a:xfrm>
          <a:prstGeom prst="rect">
            <a:avLst/>
          </a:prstGeom>
          <a:solidFill>
            <a:srgbClr val="E8E8E8"/>
          </a:solidFill>
          <a:ln w="12700">
            <a:solidFill>
              <a:srgbClr val="333333"/>
            </a:solidFill>
            <a:prstDash val="solid"/>
          </a:ln>
        </p:spPr>
        <p:txBody>
          <a:bodyPr/>
          <a:lstStyle/>
          <a:p>
            <a:endParaRPr lang="en-US"/>
          </a:p>
        </p:txBody>
      </p:sp>
      <p:sp>
        <p:nvSpPr>
          <p:cNvPr id="6" name="Shape 4"/>
          <p:cNvSpPr/>
          <p:nvPr/>
        </p:nvSpPr>
        <p:spPr>
          <a:xfrm>
            <a:off x="320040" y="1261872"/>
            <a:ext cx="1920240" cy="352044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320040" y="1261872"/>
            <a:ext cx="1920240" cy="777240"/>
          </a:xfrm>
          <a:prstGeom prst="rect">
            <a:avLst/>
          </a:prstGeom>
          <a:solidFill>
            <a:srgbClr val="2C2C2C"/>
          </a:solidFill>
          <a:ln w="12700">
            <a:solidFill>
              <a:srgbClr val="333333"/>
            </a:solidFill>
            <a:prstDash val="solid"/>
          </a:ln>
        </p:spPr>
        <p:txBody>
          <a:bodyPr/>
          <a:lstStyle/>
          <a:p>
            <a:endParaRPr lang="en-US"/>
          </a:p>
        </p:txBody>
      </p:sp>
      <p:sp>
        <p:nvSpPr>
          <p:cNvPr id="8" name="Text 6"/>
          <p:cNvSpPr/>
          <p:nvPr/>
        </p:nvSpPr>
        <p:spPr>
          <a:xfrm>
            <a:off x="320040" y="1261872"/>
            <a:ext cx="1920240" cy="384048"/>
          </a:xfrm>
          <a:prstGeom prst="rect">
            <a:avLst/>
          </a:prstGeom>
          <a:noFill/>
          <a:ln/>
        </p:spPr>
        <p:txBody>
          <a:bodyPr wrap="square" lIns="0" tIns="0" rIns="0" bIns="0" rtlCol="0" anchor="ctr"/>
          <a:lstStyle/>
          <a:p>
            <a:pPr marL="0" indent="0" algn="ctr">
              <a:buNone/>
            </a:pPr>
            <a:r>
              <a:rPr lang="en-US" sz="800" kern="0" spc="100" dirty="0">
                <a:solidFill>
                  <a:srgbClr val="AAAAAA"/>
                </a:solidFill>
                <a:latin typeface="Calibri" pitchFamily="34" charset="0"/>
                <a:ea typeface="Calibri" pitchFamily="34" charset="-122"/>
                <a:cs typeface="Calibri" pitchFamily="34" charset="-120"/>
              </a:rPr>
              <a:t>Week 1</a:t>
            </a:r>
            <a:endParaRPr lang="en-US" sz="800" dirty="0"/>
          </a:p>
          <a:p>
            <a:pPr marL="0" indent="0" algn="ctr">
              <a:buNone/>
            </a:pPr>
            <a:r>
              <a:rPr lang="en-US" sz="800" kern="0" spc="100" dirty="0">
                <a:solidFill>
                  <a:srgbClr val="AAAAAA"/>
                </a:solidFill>
                <a:latin typeface="Calibri" pitchFamily="34" charset="0"/>
                <a:ea typeface="Calibri" pitchFamily="34" charset="-122"/>
                <a:cs typeface="Calibri" pitchFamily="34" charset="-120"/>
              </a:rPr>
              <a:t>Early April</a:t>
            </a:r>
            <a:endParaRPr lang="en-US" sz="800" dirty="0"/>
          </a:p>
        </p:txBody>
      </p:sp>
      <p:sp>
        <p:nvSpPr>
          <p:cNvPr id="9" name="Text 7"/>
          <p:cNvSpPr/>
          <p:nvPr/>
        </p:nvSpPr>
        <p:spPr>
          <a:xfrm>
            <a:off x="320040" y="1572768"/>
            <a:ext cx="19202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Foundation</a:t>
            </a:r>
            <a:endParaRPr lang="en-US" sz="1400" dirty="0"/>
          </a:p>
        </p:txBody>
      </p:sp>
      <p:sp>
        <p:nvSpPr>
          <p:cNvPr id="10" name="Text 8"/>
          <p:cNvSpPr/>
          <p:nvPr/>
        </p:nvSpPr>
        <p:spPr>
          <a:xfrm>
            <a:off x="411480" y="212140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Project pivot to AI scheduler</a:t>
            </a:r>
            <a:endParaRPr lang="en-US" sz="950" dirty="0"/>
          </a:p>
        </p:txBody>
      </p:sp>
      <p:sp>
        <p:nvSpPr>
          <p:cNvPr id="11" name="Text 9"/>
          <p:cNvSpPr/>
          <p:nvPr/>
        </p:nvSpPr>
        <p:spPr>
          <a:xfrm>
            <a:off x="411480" y="276148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Backend skeleton (FastAPI + data model)</a:t>
            </a:r>
            <a:endParaRPr lang="en-US" sz="950" dirty="0"/>
          </a:p>
        </p:txBody>
      </p:sp>
      <p:sp>
        <p:nvSpPr>
          <p:cNvPr id="12" name="Text 10"/>
          <p:cNvSpPr/>
          <p:nvPr/>
        </p:nvSpPr>
        <p:spPr>
          <a:xfrm>
            <a:off x="411480" y="340156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Static Wittenberg course catalog</a:t>
            </a:r>
            <a:endParaRPr lang="en-US" sz="950" dirty="0"/>
          </a:p>
        </p:txBody>
      </p:sp>
      <p:sp>
        <p:nvSpPr>
          <p:cNvPr id="13" name="Text 11"/>
          <p:cNvSpPr/>
          <p:nvPr/>
        </p:nvSpPr>
        <p:spPr>
          <a:xfrm>
            <a:off x="411480" y="404164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Basic HTML frontend wireframe</a:t>
            </a:r>
            <a:endParaRPr lang="en-US" sz="950" dirty="0"/>
          </a:p>
        </p:txBody>
      </p:sp>
      <p:sp>
        <p:nvSpPr>
          <p:cNvPr id="14" name="Shape 12"/>
          <p:cNvSpPr/>
          <p:nvPr/>
        </p:nvSpPr>
        <p:spPr>
          <a:xfrm>
            <a:off x="4343400" y="1965960"/>
            <a:ext cx="274320" cy="54864"/>
          </a:xfrm>
          <a:prstGeom prst="rect">
            <a:avLst/>
          </a:prstGeom>
          <a:solidFill>
            <a:srgbClr val="E8E8E8"/>
          </a:solidFill>
          <a:ln w="12700">
            <a:solidFill>
              <a:srgbClr val="333333"/>
            </a:solidFill>
            <a:prstDash val="solid"/>
          </a:ln>
        </p:spPr>
        <p:txBody>
          <a:bodyPr/>
          <a:lstStyle/>
          <a:p>
            <a:endParaRPr lang="en-US"/>
          </a:p>
        </p:txBody>
      </p:sp>
      <p:sp>
        <p:nvSpPr>
          <p:cNvPr id="15" name="Shape 13"/>
          <p:cNvSpPr/>
          <p:nvPr/>
        </p:nvSpPr>
        <p:spPr>
          <a:xfrm>
            <a:off x="2468880" y="1261872"/>
            <a:ext cx="1920240" cy="352044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16" name="Shape 14"/>
          <p:cNvSpPr/>
          <p:nvPr/>
        </p:nvSpPr>
        <p:spPr>
          <a:xfrm>
            <a:off x="2468880" y="1261872"/>
            <a:ext cx="1920240" cy="777240"/>
          </a:xfrm>
          <a:prstGeom prst="rect">
            <a:avLst/>
          </a:prstGeom>
          <a:solidFill>
            <a:srgbClr val="2C2C2C"/>
          </a:solidFill>
          <a:ln w="12700">
            <a:solidFill>
              <a:srgbClr val="333333"/>
            </a:solidFill>
            <a:prstDash val="solid"/>
          </a:ln>
        </p:spPr>
        <p:txBody>
          <a:bodyPr/>
          <a:lstStyle/>
          <a:p>
            <a:endParaRPr lang="en-US"/>
          </a:p>
        </p:txBody>
      </p:sp>
      <p:sp>
        <p:nvSpPr>
          <p:cNvPr id="17" name="Text 15"/>
          <p:cNvSpPr/>
          <p:nvPr/>
        </p:nvSpPr>
        <p:spPr>
          <a:xfrm>
            <a:off x="2468880" y="1261872"/>
            <a:ext cx="1920240" cy="384048"/>
          </a:xfrm>
          <a:prstGeom prst="rect">
            <a:avLst/>
          </a:prstGeom>
          <a:noFill/>
          <a:ln/>
        </p:spPr>
        <p:txBody>
          <a:bodyPr wrap="square" lIns="0" tIns="0" rIns="0" bIns="0" rtlCol="0" anchor="ctr"/>
          <a:lstStyle/>
          <a:p>
            <a:pPr marL="0" indent="0" algn="ctr">
              <a:buNone/>
            </a:pPr>
            <a:r>
              <a:rPr lang="en-US" sz="800" kern="0" spc="100" dirty="0">
                <a:solidFill>
                  <a:srgbClr val="AAAAAA"/>
                </a:solidFill>
                <a:latin typeface="Calibri" pitchFamily="34" charset="0"/>
                <a:ea typeface="Calibri" pitchFamily="34" charset="-122"/>
                <a:cs typeface="Calibri" pitchFamily="34" charset="-120"/>
              </a:rPr>
              <a:t>Week 2</a:t>
            </a:r>
            <a:endParaRPr lang="en-US" sz="800" dirty="0"/>
          </a:p>
          <a:p>
            <a:pPr marL="0" indent="0" algn="ctr">
              <a:buNone/>
            </a:pPr>
            <a:r>
              <a:rPr lang="en-US" sz="800" kern="0" spc="100" dirty="0">
                <a:solidFill>
                  <a:srgbClr val="AAAAAA"/>
                </a:solidFill>
                <a:latin typeface="Calibri" pitchFamily="34" charset="0"/>
                <a:ea typeface="Calibri" pitchFamily="34" charset="-122"/>
                <a:cs typeface="Calibri" pitchFamily="34" charset="-120"/>
              </a:rPr>
              <a:t>Mid April</a:t>
            </a:r>
            <a:endParaRPr lang="en-US" sz="800" dirty="0"/>
          </a:p>
        </p:txBody>
      </p:sp>
      <p:sp>
        <p:nvSpPr>
          <p:cNvPr id="18" name="Text 16"/>
          <p:cNvSpPr/>
          <p:nvPr/>
        </p:nvSpPr>
        <p:spPr>
          <a:xfrm>
            <a:off x="2468880" y="1572768"/>
            <a:ext cx="19202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Core Logic</a:t>
            </a:r>
            <a:endParaRPr lang="en-US" sz="1400" dirty="0"/>
          </a:p>
        </p:txBody>
      </p:sp>
      <p:sp>
        <p:nvSpPr>
          <p:cNvPr id="19" name="Text 17"/>
          <p:cNvSpPr/>
          <p:nvPr/>
        </p:nvSpPr>
        <p:spPr>
          <a:xfrm>
            <a:off x="2560320" y="212140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Scheduling engine (CSP approach)</a:t>
            </a:r>
            <a:endParaRPr lang="en-US" sz="950" dirty="0"/>
          </a:p>
        </p:txBody>
      </p:sp>
      <p:sp>
        <p:nvSpPr>
          <p:cNvPr id="20" name="Text 18"/>
          <p:cNvSpPr/>
          <p:nvPr/>
        </p:nvSpPr>
        <p:spPr>
          <a:xfrm>
            <a:off x="2560320" y="276148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Prerequisite graph validation</a:t>
            </a:r>
            <a:endParaRPr lang="en-US" sz="950" dirty="0"/>
          </a:p>
        </p:txBody>
      </p:sp>
      <p:sp>
        <p:nvSpPr>
          <p:cNvPr id="21" name="Text 19"/>
          <p:cNvSpPr/>
          <p:nvPr/>
        </p:nvSpPr>
        <p:spPr>
          <a:xfrm>
            <a:off x="2560320" y="340156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Progress tracker &amp; credit model</a:t>
            </a:r>
            <a:endParaRPr lang="en-US" sz="950" dirty="0"/>
          </a:p>
        </p:txBody>
      </p:sp>
      <p:sp>
        <p:nvSpPr>
          <p:cNvPr id="22" name="Text 20"/>
          <p:cNvSpPr/>
          <p:nvPr/>
        </p:nvSpPr>
        <p:spPr>
          <a:xfrm>
            <a:off x="2560320" y="404164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Frontend/backend first connection</a:t>
            </a:r>
            <a:endParaRPr lang="en-US" sz="950" dirty="0"/>
          </a:p>
        </p:txBody>
      </p:sp>
      <p:sp>
        <p:nvSpPr>
          <p:cNvPr id="23" name="Shape 21"/>
          <p:cNvSpPr/>
          <p:nvPr/>
        </p:nvSpPr>
        <p:spPr>
          <a:xfrm>
            <a:off x="6492240" y="1965960"/>
            <a:ext cx="274320" cy="54864"/>
          </a:xfrm>
          <a:prstGeom prst="rect">
            <a:avLst/>
          </a:prstGeom>
          <a:solidFill>
            <a:srgbClr val="E8E8E8"/>
          </a:solidFill>
          <a:ln w="12700">
            <a:solidFill>
              <a:srgbClr val="333333"/>
            </a:solidFill>
            <a:prstDash val="solid"/>
          </a:ln>
        </p:spPr>
        <p:txBody>
          <a:bodyPr/>
          <a:lstStyle/>
          <a:p>
            <a:endParaRPr lang="en-US"/>
          </a:p>
        </p:txBody>
      </p:sp>
      <p:sp>
        <p:nvSpPr>
          <p:cNvPr id="24" name="Shape 22"/>
          <p:cNvSpPr/>
          <p:nvPr/>
        </p:nvSpPr>
        <p:spPr>
          <a:xfrm>
            <a:off x="4617720" y="1261872"/>
            <a:ext cx="1920240" cy="352044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25" name="Shape 23"/>
          <p:cNvSpPr/>
          <p:nvPr/>
        </p:nvSpPr>
        <p:spPr>
          <a:xfrm>
            <a:off x="4617720" y="1261872"/>
            <a:ext cx="1920240" cy="777240"/>
          </a:xfrm>
          <a:prstGeom prst="rect">
            <a:avLst/>
          </a:prstGeom>
          <a:solidFill>
            <a:srgbClr val="2C2C2C"/>
          </a:solidFill>
          <a:ln w="12700">
            <a:solidFill>
              <a:srgbClr val="333333"/>
            </a:solidFill>
            <a:prstDash val="solid"/>
          </a:ln>
        </p:spPr>
        <p:txBody>
          <a:bodyPr/>
          <a:lstStyle/>
          <a:p>
            <a:endParaRPr lang="en-US"/>
          </a:p>
        </p:txBody>
      </p:sp>
      <p:sp>
        <p:nvSpPr>
          <p:cNvPr id="26" name="Text 24"/>
          <p:cNvSpPr/>
          <p:nvPr/>
        </p:nvSpPr>
        <p:spPr>
          <a:xfrm>
            <a:off x="4617720" y="1261872"/>
            <a:ext cx="1920240" cy="384048"/>
          </a:xfrm>
          <a:prstGeom prst="rect">
            <a:avLst/>
          </a:prstGeom>
          <a:noFill/>
          <a:ln/>
        </p:spPr>
        <p:txBody>
          <a:bodyPr wrap="square" lIns="0" tIns="0" rIns="0" bIns="0" rtlCol="0" anchor="ctr"/>
          <a:lstStyle/>
          <a:p>
            <a:pPr marL="0" indent="0" algn="ctr">
              <a:buNone/>
            </a:pPr>
            <a:r>
              <a:rPr lang="en-US" sz="800" kern="0" spc="100" dirty="0">
                <a:solidFill>
                  <a:srgbClr val="AAAAAA"/>
                </a:solidFill>
                <a:latin typeface="Calibri" pitchFamily="34" charset="0"/>
                <a:ea typeface="Calibri" pitchFamily="34" charset="-122"/>
                <a:cs typeface="Calibri" pitchFamily="34" charset="-120"/>
              </a:rPr>
              <a:t>Week 3</a:t>
            </a:r>
            <a:endParaRPr lang="en-US" sz="800" dirty="0"/>
          </a:p>
          <a:p>
            <a:pPr marL="0" indent="0" algn="ctr">
              <a:buNone/>
            </a:pPr>
            <a:r>
              <a:rPr lang="en-US" sz="800" kern="0" spc="100" dirty="0">
                <a:solidFill>
                  <a:srgbClr val="AAAAAA"/>
                </a:solidFill>
                <a:latin typeface="Calibri" pitchFamily="34" charset="0"/>
                <a:ea typeface="Calibri" pitchFamily="34" charset="-122"/>
                <a:cs typeface="Calibri" pitchFamily="34" charset="-120"/>
              </a:rPr>
              <a:t>Late April</a:t>
            </a:r>
            <a:endParaRPr lang="en-US" sz="800" dirty="0"/>
          </a:p>
        </p:txBody>
      </p:sp>
      <p:sp>
        <p:nvSpPr>
          <p:cNvPr id="27" name="Text 25"/>
          <p:cNvSpPr/>
          <p:nvPr/>
        </p:nvSpPr>
        <p:spPr>
          <a:xfrm>
            <a:off x="4617720" y="1572768"/>
            <a:ext cx="19202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AI &amp; Sync</a:t>
            </a:r>
            <a:endParaRPr lang="en-US" sz="1400" dirty="0"/>
          </a:p>
        </p:txBody>
      </p:sp>
      <p:sp>
        <p:nvSpPr>
          <p:cNvPr id="28" name="Text 26"/>
          <p:cNvSpPr/>
          <p:nvPr/>
        </p:nvSpPr>
        <p:spPr>
          <a:xfrm>
            <a:off x="4709160" y="212140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Chatbot intent classification</a:t>
            </a:r>
            <a:endParaRPr lang="en-US" sz="950" dirty="0"/>
          </a:p>
        </p:txBody>
      </p:sp>
      <p:sp>
        <p:nvSpPr>
          <p:cNvPr id="29" name="Text 27"/>
          <p:cNvSpPr/>
          <p:nvPr/>
        </p:nvSpPr>
        <p:spPr>
          <a:xfrm>
            <a:off x="4709160" y="276148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Session state (shared source of truth)</a:t>
            </a:r>
            <a:endParaRPr lang="en-US" sz="950" dirty="0"/>
          </a:p>
        </p:txBody>
      </p:sp>
      <p:sp>
        <p:nvSpPr>
          <p:cNvPr id="30" name="Text 28"/>
          <p:cNvSpPr/>
          <p:nvPr/>
        </p:nvSpPr>
        <p:spPr>
          <a:xfrm>
            <a:off x="4709160" y="340156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Frontend state synchronization</a:t>
            </a:r>
            <a:endParaRPr lang="en-US" sz="950" dirty="0"/>
          </a:p>
        </p:txBody>
      </p:sp>
      <p:sp>
        <p:nvSpPr>
          <p:cNvPr id="31" name="Text 29"/>
          <p:cNvSpPr/>
          <p:nvPr/>
        </p:nvSpPr>
        <p:spPr>
          <a:xfrm>
            <a:off x="4709160" y="404164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3-plan alternative generation</a:t>
            </a:r>
            <a:endParaRPr lang="en-US" sz="950" dirty="0"/>
          </a:p>
        </p:txBody>
      </p:sp>
      <p:sp>
        <p:nvSpPr>
          <p:cNvPr id="32" name="Shape 30"/>
          <p:cNvSpPr/>
          <p:nvPr/>
        </p:nvSpPr>
        <p:spPr>
          <a:xfrm>
            <a:off x="6766560" y="1261872"/>
            <a:ext cx="1920240" cy="3520440"/>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33" name="Shape 31"/>
          <p:cNvSpPr/>
          <p:nvPr/>
        </p:nvSpPr>
        <p:spPr>
          <a:xfrm>
            <a:off x="6766560" y="1261872"/>
            <a:ext cx="1920240" cy="777240"/>
          </a:xfrm>
          <a:prstGeom prst="rect">
            <a:avLst/>
          </a:prstGeom>
          <a:solidFill>
            <a:srgbClr val="CC0000"/>
          </a:solidFill>
          <a:ln w="12700">
            <a:solidFill>
              <a:srgbClr val="333333"/>
            </a:solidFill>
            <a:prstDash val="solid"/>
          </a:ln>
        </p:spPr>
        <p:txBody>
          <a:bodyPr/>
          <a:lstStyle/>
          <a:p>
            <a:endParaRPr lang="en-US"/>
          </a:p>
        </p:txBody>
      </p:sp>
      <p:sp>
        <p:nvSpPr>
          <p:cNvPr id="34" name="Text 32"/>
          <p:cNvSpPr/>
          <p:nvPr/>
        </p:nvSpPr>
        <p:spPr>
          <a:xfrm>
            <a:off x="6766560" y="1261872"/>
            <a:ext cx="1920240" cy="384048"/>
          </a:xfrm>
          <a:prstGeom prst="rect">
            <a:avLst/>
          </a:prstGeom>
          <a:noFill/>
          <a:ln/>
        </p:spPr>
        <p:txBody>
          <a:bodyPr wrap="square" lIns="0" tIns="0" rIns="0" bIns="0" rtlCol="0" anchor="ctr"/>
          <a:lstStyle/>
          <a:p>
            <a:pPr marL="0" indent="0" algn="ctr">
              <a:buNone/>
            </a:pPr>
            <a:r>
              <a:rPr lang="en-US" sz="800" kern="0" spc="100" dirty="0">
                <a:solidFill>
                  <a:srgbClr val="AAAAAA"/>
                </a:solidFill>
                <a:latin typeface="Calibri" pitchFamily="34" charset="0"/>
                <a:ea typeface="Calibri" pitchFamily="34" charset="-122"/>
                <a:cs typeface="Calibri" pitchFamily="34" charset="-120"/>
              </a:rPr>
              <a:t>Week 4–5</a:t>
            </a:r>
            <a:endParaRPr lang="en-US" sz="800" dirty="0"/>
          </a:p>
          <a:p>
            <a:pPr marL="0" indent="0" algn="ctr">
              <a:buNone/>
            </a:pPr>
            <a:r>
              <a:rPr lang="en-US" sz="800" kern="0" spc="100" dirty="0">
                <a:solidFill>
                  <a:srgbClr val="AAAAAA"/>
                </a:solidFill>
                <a:latin typeface="Calibri" pitchFamily="34" charset="0"/>
                <a:ea typeface="Calibri" pitchFamily="34" charset="-122"/>
                <a:cs typeface="Calibri" pitchFamily="34" charset="-120"/>
              </a:rPr>
              <a:t>May</a:t>
            </a:r>
            <a:endParaRPr lang="en-US" sz="800" dirty="0"/>
          </a:p>
        </p:txBody>
      </p:sp>
      <p:sp>
        <p:nvSpPr>
          <p:cNvPr id="35" name="Text 33"/>
          <p:cNvSpPr/>
          <p:nvPr/>
        </p:nvSpPr>
        <p:spPr>
          <a:xfrm>
            <a:off x="6766560" y="1572768"/>
            <a:ext cx="19202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Polish &amp; Fix</a:t>
            </a:r>
            <a:endParaRPr lang="en-US" sz="1400" dirty="0"/>
          </a:p>
        </p:txBody>
      </p:sp>
      <p:sp>
        <p:nvSpPr>
          <p:cNvPr id="36" name="Text 34"/>
          <p:cNvSpPr/>
          <p:nvPr/>
        </p:nvSpPr>
        <p:spPr>
          <a:xfrm>
            <a:off x="6858000" y="212140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Fuzzy course code matching</a:t>
            </a:r>
            <a:endParaRPr lang="en-US" sz="950" dirty="0"/>
          </a:p>
        </p:txBody>
      </p:sp>
      <p:sp>
        <p:nvSpPr>
          <p:cNvPr id="37" name="Text 35"/>
          <p:cNvSpPr/>
          <p:nvPr/>
        </p:nvSpPr>
        <p:spPr>
          <a:xfrm>
            <a:off x="6858000" y="276148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Credit minimum enforcement</a:t>
            </a:r>
            <a:endParaRPr lang="en-US" sz="950" dirty="0"/>
          </a:p>
        </p:txBody>
      </p:sp>
      <p:sp>
        <p:nvSpPr>
          <p:cNvPr id="38" name="Text 36"/>
          <p:cNvSpPr/>
          <p:nvPr/>
        </p:nvSpPr>
        <p:spPr>
          <a:xfrm>
            <a:off x="6858000" y="340156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Time preference constraints</a:t>
            </a:r>
            <a:endParaRPr lang="en-US" sz="950" dirty="0"/>
          </a:p>
        </p:txBody>
      </p:sp>
      <p:sp>
        <p:nvSpPr>
          <p:cNvPr id="39" name="Text 37"/>
          <p:cNvSpPr/>
          <p:nvPr/>
        </p:nvSpPr>
        <p:spPr>
          <a:xfrm>
            <a:off x="6858000" y="4041648"/>
            <a:ext cx="1737360" cy="603504"/>
          </a:xfrm>
          <a:prstGeom prst="rect">
            <a:avLst/>
          </a:prstGeom>
          <a:noFill/>
          <a:ln/>
        </p:spPr>
        <p:txBody>
          <a:bodyPr wrap="square" rtlCol="0" anchor="ctr"/>
          <a:lstStyle/>
          <a:p>
            <a:pPr marL="342900" indent="-342900">
              <a:buSzPct val="100000"/>
              <a:buChar char="•"/>
            </a:pPr>
            <a:r>
              <a:rPr lang="en-US" sz="950" dirty="0">
                <a:solidFill>
                  <a:srgbClr val="2C2C2C"/>
                </a:solidFill>
                <a:latin typeface="Calibri" pitchFamily="34" charset="0"/>
                <a:ea typeface="Calibri" pitchFamily="34" charset="-122"/>
                <a:cs typeface="Calibri" pitchFamily="34" charset="-120"/>
              </a:rPr>
              <a:t>PDF export, compare, prereq map</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FEATURES</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What Pathfinder Can Do</a:t>
            </a:r>
            <a:endParaRPr lang="en-US" sz="2800" dirty="0"/>
          </a:p>
        </p:txBody>
      </p:sp>
      <p:sp>
        <p:nvSpPr>
          <p:cNvPr id="5" name="Shape 3"/>
          <p:cNvSpPr/>
          <p:nvPr/>
        </p:nvSpPr>
        <p:spPr>
          <a:xfrm>
            <a:off x="411480" y="129844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435608"/>
            <a:ext cx="365760" cy="365760"/>
          </a:xfrm>
          <a:prstGeom prst="rect">
            <a:avLst/>
          </a:prstGeom>
        </p:spPr>
      </p:pic>
      <p:sp>
        <p:nvSpPr>
          <p:cNvPr id="7" name="Text 4"/>
          <p:cNvSpPr/>
          <p:nvPr/>
        </p:nvSpPr>
        <p:spPr>
          <a:xfrm>
            <a:off x="1033272" y="1408176"/>
            <a:ext cx="333756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3-Plan Generation</a:t>
            </a:r>
            <a:endParaRPr lang="en-US" sz="1300" dirty="0"/>
          </a:p>
        </p:txBody>
      </p:sp>
      <p:sp>
        <p:nvSpPr>
          <p:cNvPr id="8" name="Text 5"/>
          <p:cNvSpPr/>
          <p:nvPr/>
        </p:nvSpPr>
        <p:spPr>
          <a:xfrm>
            <a:off x="548640" y="1828800"/>
            <a:ext cx="3794760" cy="548640"/>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Balanced, Accelerated, and Lighter Load plans — each scored for speed, balance, and preference fit.</a:t>
            </a:r>
            <a:endParaRPr lang="en-US" sz="1050" dirty="0"/>
          </a:p>
        </p:txBody>
      </p:sp>
      <p:sp>
        <p:nvSpPr>
          <p:cNvPr id="9" name="Shape 6"/>
          <p:cNvSpPr/>
          <p:nvPr/>
        </p:nvSpPr>
        <p:spPr>
          <a:xfrm>
            <a:off x="4754880" y="129844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892040" y="1435608"/>
            <a:ext cx="365760" cy="365760"/>
          </a:xfrm>
          <a:prstGeom prst="rect">
            <a:avLst/>
          </a:prstGeom>
        </p:spPr>
      </p:pic>
      <p:sp>
        <p:nvSpPr>
          <p:cNvPr id="11" name="Text 7"/>
          <p:cNvSpPr/>
          <p:nvPr/>
        </p:nvSpPr>
        <p:spPr>
          <a:xfrm>
            <a:off x="5376672" y="1408176"/>
            <a:ext cx="333756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Prerequisite Enforcement</a:t>
            </a:r>
            <a:endParaRPr lang="en-US" sz="1300" dirty="0"/>
          </a:p>
        </p:txBody>
      </p:sp>
      <p:sp>
        <p:nvSpPr>
          <p:cNvPr id="12" name="Text 8"/>
          <p:cNvSpPr/>
          <p:nvPr/>
        </p:nvSpPr>
        <p:spPr>
          <a:xfrm>
            <a:off x="4892040" y="1828800"/>
            <a:ext cx="3794760" cy="548640"/>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Validates every course before marking complete. Blocks impossible sequences with a clear explanation.</a:t>
            </a:r>
            <a:endParaRPr lang="en-US" sz="1050" dirty="0"/>
          </a:p>
        </p:txBody>
      </p:sp>
      <p:sp>
        <p:nvSpPr>
          <p:cNvPr id="13" name="Shape 9"/>
          <p:cNvSpPr/>
          <p:nvPr/>
        </p:nvSpPr>
        <p:spPr>
          <a:xfrm>
            <a:off x="411480" y="253288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548640" y="2670048"/>
            <a:ext cx="365760" cy="365760"/>
          </a:xfrm>
          <a:prstGeom prst="rect">
            <a:avLst/>
          </a:prstGeom>
        </p:spPr>
      </p:pic>
      <p:sp>
        <p:nvSpPr>
          <p:cNvPr id="15" name="Text 10"/>
          <p:cNvSpPr/>
          <p:nvPr/>
        </p:nvSpPr>
        <p:spPr>
          <a:xfrm>
            <a:off x="1033272" y="2642616"/>
            <a:ext cx="333756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Progress Dashboard</a:t>
            </a:r>
            <a:endParaRPr lang="en-US" sz="1300" dirty="0"/>
          </a:p>
        </p:txBody>
      </p:sp>
      <p:sp>
        <p:nvSpPr>
          <p:cNvPr id="16" name="Text 11"/>
          <p:cNvSpPr/>
          <p:nvPr/>
        </p:nvSpPr>
        <p:spPr>
          <a:xfrm>
            <a:off x="548640" y="3063240"/>
            <a:ext cx="3794760" cy="548640"/>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Live credit breakdown by major, Connections Curriculum, and free electives — always synced with backend.</a:t>
            </a:r>
            <a:endParaRPr lang="en-US" sz="1050" dirty="0"/>
          </a:p>
        </p:txBody>
      </p:sp>
      <p:sp>
        <p:nvSpPr>
          <p:cNvPr id="17" name="Shape 12"/>
          <p:cNvSpPr/>
          <p:nvPr/>
        </p:nvSpPr>
        <p:spPr>
          <a:xfrm>
            <a:off x="4754880" y="253288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4892040" y="2670048"/>
            <a:ext cx="365760" cy="365760"/>
          </a:xfrm>
          <a:prstGeom prst="rect">
            <a:avLst/>
          </a:prstGeom>
        </p:spPr>
      </p:pic>
      <p:sp>
        <p:nvSpPr>
          <p:cNvPr id="19" name="Text 13"/>
          <p:cNvSpPr/>
          <p:nvPr/>
        </p:nvSpPr>
        <p:spPr>
          <a:xfrm>
            <a:off x="5376672" y="2642616"/>
            <a:ext cx="333756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Prerequisite Map</a:t>
            </a:r>
            <a:endParaRPr lang="en-US" sz="1300" dirty="0"/>
          </a:p>
        </p:txBody>
      </p:sp>
      <p:sp>
        <p:nvSpPr>
          <p:cNvPr id="20" name="Text 14"/>
          <p:cNvSpPr/>
          <p:nvPr/>
        </p:nvSpPr>
        <p:spPr>
          <a:xfrm>
            <a:off x="4892040" y="3063240"/>
            <a:ext cx="3794760" cy="548640"/>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Visual dependency chains showing how courses unlock future options — built from live catalog data.</a:t>
            </a:r>
            <a:endParaRPr lang="en-US" sz="1050" dirty="0"/>
          </a:p>
        </p:txBody>
      </p:sp>
      <p:sp>
        <p:nvSpPr>
          <p:cNvPr id="21" name="Shape 15"/>
          <p:cNvSpPr/>
          <p:nvPr/>
        </p:nvSpPr>
        <p:spPr>
          <a:xfrm>
            <a:off x="411480" y="376732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22" name="Image 4" descr="preencoded.png"/>
          <p:cNvPicPr>
            <a:picLocks noChangeAspect="1"/>
          </p:cNvPicPr>
          <p:nvPr/>
        </p:nvPicPr>
        <p:blipFill>
          <a:blip r:embed="rId7"/>
          <a:stretch>
            <a:fillRect/>
          </a:stretch>
        </p:blipFill>
        <p:spPr>
          <a:xfrm>
            <a:off x="548640" y="3904488"/>
            <a:ext cx="365760" cy="365760"/>
          </a:xfrm>
          <a:prstGeom prst="rect">
            <a:avLst/>
          </a:prstGeom>
        </p:spPr>
      </p:pic>
      <p:sp>
        <p:nvSpPr>
          <p:cNvPr id="23" name="Text 16"/>
          <p:cNvSpPr/>
          <p:nvPr/>
        </p:nvSpPr>
        <p:spPr>
          <a:xfrm>
            <a:off x="1033272" y="3877056"/>
            <a:ext cx="333756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Click-to-Toggle Completion</a:t>
            </a:r>
            <a:endParaRPr lang="en-US" sz="1300" dirty="0"/>
          </a:p>
        </p:txBody>
      </p:sp>
      <p:sp>
        <p:nvSpPr>
          <p:cNvPr id="24" name="Text 17"/>
          <p:cNvSpPr/>
          <p:nvPr/>
        </p:nvSpPr>
        <p:spPr>
          <a:xfrm>
            <a:off x="548640" y="4297680"/>
            <a:ext cx="3794760" cy="548640"/>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Mark any course done directly from the UI. Backend regenerates the plan and syncs all pages instantly.</a:t>
            </a:r>
            <a:endParaRPr lang="en-US" sz="1050" dirty="0"/>
          </a:p>
        </p:txBody>
      </p:sp>
      <p:sp>
        <p:nvSpPr>
          <p:cNvPr id="25" name="Shape 18"/>
          <p:cNvSpPr/>
          <p:nvPr/>
        </p:nvSpPr>
        <p:spPr>
          <a:xfrm>
            <a:off x="4754880" y="376732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26" name="Image 5" descr="preencoded.png"/>
          <p:cNvPicPr>
            <a:picLocks noChangeAspect="1"/>
          </p:cNvPicPr>
          <p:nvPr/>
        </p:nvPicPr>
        <p:blipFill>
          <a:blip r:embed="rId8"/>
          <a:stretch>
            <a:fillRect/>
          </a:stretch>
        </p:blipFill>
        <p:spPr>
          <a:xfrm>
            <a:off x="4892040" y="3904488"/>
            <a:ext cx="365760" cy="365760"/>
          </a:xfrm>
          <a:prstGeom prst="rect">
            <a:avLst/>
          </a:prstGeom>
        </p:spPr>
      </p:pic>
      <p:sp>
        <p:nvSpPr>
          <p:cNvPr id="27" name="Text 19"/>
          <p:cNvSpPr/>
          <p:nvPr/>
        </p:nvSpPr>
        <p:spPr>
          <a:xfrm>
            <a:off x="5376672" y="3877056"/>
            <a:ext cx="333756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PDF Export</a:t>
            </a:r>
            <a:endParaRPr lang="en-US" sz="1300" dirty="0"/>
          </a:p>
        </p:txBody>
      </p:sp>
      <p:sp>
        <p:nvSpPr>
          <p:cNvPr id="28" name="Text 20"/>
          <p:cNvSpPr/>
          <p:nvPr/>
        </p:nvSpPr>
        <p:spPr>
          <a:xfrm>
            <a:off x="4892040" y="4297680"/>
            <a:ext cx="3794760" cy="548640"/>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Download a formatted degree plan with credit breakdown, semester layout, and advisor notes.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AI INTEGRATION</a:t>
            </a:r>
            <a:endParaRPr lang="en-US" sz="800" dirty="0"/>
          </a:p>
        </p:txBody>
      </p:sp>
      <p:sp>
        <p:nvSpPr>
          <p:cNvPr id="3" name="Text 1"/>
          <p:cNvSpPr/>
          <p:nvPr/>
        </p:nvSpPr>
        <p:spPr>
          <a:xfrm>
            <a:off x="411480" y="411480"/>
            <a:ext cx="8321040" cy="658368"/>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The AI Brain</a:t>
            </a:r>
            <a:endParaRPr lang="en-US" sz="3000" dirty="0"/>
          </a:p>
        </p:txBody>
      </p:sp>
      <p:sp>
        <p:nvSpPr>
          <p:cNvPr id="4" name="Shape 2"/>
          <p:cNvSpPr/>
          <p:nvPr/>
        </p:nvSpPr>
        <p:spPr>
          <a:xfrm>
            <a:off x="411480" y="1234440"/>
            <a:ext cx="3840480" cy="3520440"/>
          </a:xfrm>
          <a:prstGeom prst="rect">
            <a:avLst/>
          </a:prstGeom>
          <a:solidFill>
            <a:srgbClr val="1E1E1E"/>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594360" y="1371600"/>
            <a:ext cx="457200" cy="457200"/>
          </a:xfrm>
          <a:prstGeom prst="rect">
            <a:avLst/>
          </a:prstGeom>
        </p:spPr>
      </p:pic>
      <p:sp>
        <p:nvSpPr>
          <p:cNvPr id="6" name="Text 3"/>
          <p:cNvSpPr/>
          <p:nvPr/>
        </p:nvSpPr>
        <p:spPr>
          <a:xfrm>
            <a:off x="1170432" y="1389888"/>
            <a:ext cx="29260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Chatbot Layer</a:t>
            </a:r>
            <a:endParaRPr lang="en-US" sz="1600" dirty="0"/>
          </a:p>
        </p:txBody>
      </p:sp>
      <p:sp>
        <p:nvSpPr>
          <p:cNvPr id="7" name="Text 4"/>
          <p:cNvSpPr/>
          <p:nvPr/>
        </p:nvSpPr>
        <p:spPr>
          <a:xfrm>
            <a:off x="548640" y="1938528"/>
            <a:ext cx="356616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Intent classification: understands 'no 8am' vs 'graduate early'</a:t>
            </a:r>
            <a:endParaRPr lang="en-US" sz="1050" dirty="0"/>
          </a:p>
        </p:txBody>
      </p:sp>
      <p:sp>
        <p:nvSpPr>
          <p:cNvPr id="8" name="Text 5"/>
          <p:cNvSpPr/>
          <p:nvPr/>
        </p:nvSpPr>
        <p:spPr>
          <a:xfrm>
            <a:off x="548640" y="2578608"/>
            <a:ext cx="356616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Fuzzy course matching: 'ACT225' → ACCT225 automatically</a:t>
            </a:r>
            <a:endParaRPr lang="en-US" sz="1050" dirty="0"/>
          </a:p>
        </p:txBody>
      </p:sp>
      <p:sp>
        <p:nvSpPr>
          <p:cNvPr id="9" name="Text 6"/>
          <p:cNvSpPr/>
          <p:nvPr/>
        </p:nvSpPr>
        <p:spPr>
          <a:xfrm>
            <a:off x="548640" y="3218688"/>
            <a:ext cx="356616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Session memory: never re-asks your name or major</a:t>
            </a:r>
            <a:endParaRPr lang="en-US" sz="1050" dirty="0"/>
          </a:p>
        </p:txBody>
      </p:sp>
      <p:sp>
        <p:nvSpPr>
          <p:cNvPr id="10" name="Text 7"/>
          <p:cNvSpPr/>
          <p:nvPr/>
        </p:nvSpPr>
        <p:spPr>
          <a:xfrm>
            <a:off x="548640" y="3858768"/>
            <a:ext cx="356616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Prereq validation before marking any course complete</a:t>
            </a:r>
            <a:endParaRPr lang="en-US" sz="1050" dirty="0"/>
          </a:p>
        </p:txBody>
      </p:sp>
      <p:sp>
        <p:nvSpPr>
          <p:cNvPr id="11" name="Shape 8"/>
          <p:cNvSpPr/>
          <p:nvPr/>
        </p:nvSpPr>
        <p:spPr>
          <a:xfrm>
            <a:off x="4480560" y="1234440"/>
            <a:ext cx="4251960" cy="3520440"/>
          </a:xfrm>
          <a:prstGeom prst="rect">
            <a:avLst/>
          </a:prstGeom>
          <a:solidFill>
            <a:srgbClr val="1E1E1E"/>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663440" y="1371600"/>
            <a:ext cx="457200" cy="457200"/>
          </a:xfrm>
          <a:prstGeom prst="rect">
            <a:avLst/>
          </a:prstGeom>
        </p:spPr>
      </p:pic>
      <p:sp>
        <p:nvSpPr>
          <p:cNvPr id="13" name="Text 9"/>
          <p:cNvSpPr/>
          <p:nvPr/>
        </p:nvSpPr>
        <p:spPr>
          <a:xfrm>
            <a:off x="5239512" y="1389888"/>
            <a:ext cx="3383280" cy="411480"/>
          </a:xfrm>
          <a:prstGeom prst="rect">
            <a:avLst/>
          </a:prstGeom>
          <a:noFill/>
          <a:ln/>
        </p:spPr>
        <p:txBody>
          <a:bodyPr wrap="square" lIns="0" tIns="0" rIns="0" bIns="0" rtlCol="0" anchor="ctr"/>
          <a:lstStyle/>
          <a:p>
            <a:pPr marL="0" indent="0" algn="l">
              <a:buNone/>
            </a:pPr>
            <a:r>
              <a:rPr lang="en-US" sz="1600" b="1" dirty="0">
                <a:solidFill>
                  <a:srgbClr val="FFFFFF"/>
                </a:solidFill>
                <a:latin typeface="Georgia" pitchFamily="34" charset="0"/>
                <a:ea typeface="Georgia" pitchFamily="34" charset="-122"/>
                <a:cs typeface="Georgia" pitchFamily="34" charset="-120"/>
              </a:rPr>
              <a:t>Scheduler Engine</a:t>
            </a:r>
            <a:endParaRPr lang="en-US" sz="1600" dirty="0"/>
          </a:p>
        </p:txBody>
      </p:sp>
      <p:sp>
        <p:nvSpPr>
          <p:cNvPr id="14" name="Text 10"/>
          <p:cNvSpPr/>
          <p:nvPr/>
        </p:nvSpPr>
        <p:spPr>
          <a:xfrm>
            <a:off x="4617720" y="1938528"/>
            <a:ext cx="397764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Constraint satisfaction: prerequisite chains, offering terms, credit caps</a:t>
            </a:r>
            <a:endParaRPr lang="en-US" sz="1050" dirty="0"/>
          </a:p>
        </p:txBody>
      </p:sp>
      <p:sp>
        <p:nvSpPr>
          <p:cNvPr id="15" name="Text 11"/>
          <p:cNvSpPr/>
          <p:nvPr/>
        </p:nvSpPr>
        <p:spPr>
          <a:xfrm>
            <a:off x="4617720" y="2578608"/>
            <a:ext cx="397764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Filler pool: pads thin semesters to meet 12-credit minimum</a:t>
            </a:r>
            <a:endParaRPr lang="en-US" sz="1050" dirty="0"/>
          </a:p>
        </p:txBody>
      </p:sp>
      <p:sp>
        <p:nvSpPr>
          <p:cNvPr id="16" name="Text 12"/>
          <p:cNvSpPr/>
          <p:nvPr/>
        </p:nvSpPr>
        <p:spPr>
          <a:xfrm>
            <a:off x="4617720" y="3218688"/>
            <a:ext cx="397764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Hard time constraints: 'no classes before 9am' enforced on real slots</a:t>
            </a:r>
            <a:endParaRPr lang="en-US" sz="1050" dirty="0"/>
          </a:p>
        </p:txBody>
      </p:sp>
      <p:sp>
        <p:nvSpPr>
          <p:cNvPr id="17" name="Text 13"/>
          <p:cNvSpPr/>
          <p:nvPr/>
        </p:nvSpPr>
        <p:spPr>
          <a:xfrm>
            <a:off x="4617720" y="3858768"/>
            <a:ext cx="3977640" cy="594360"/>
          </a:xfrm>
          <a:prstGeom prst="rect">
            <a:avLst/>
          </a:prstGeom>
          <a:noFill/>
          <a:ln/>
        </p:spPr>
        <p:txBody>
          <a:bodyPr wrap="square" rtlCol="0" anchor="ctr"/>
          <a:lstStyle/>
          <a:p>
            <a:pPr marL="342900" indent="-342900">
              <a:buSzPct val="100000"/>
              <a:buChar char="•"/>
            </a:pPr>
            <a:r>
              <a:rPr lang="en-US" sz="1050" dirty="0">
                <a:solidFill>
                  <a:srgbClr val="CCCCCC"/>
                </a:solidFill>
                <a:latin typeface="Calibri" pitchFamily="34" charset="0"/>
                <a:ea typeface="Calibri" pitchFamily="34" charset="-122"/>
                <a:cs typeface="Calibri" pitchFamily="34" charset="-120"/>
              </a:rPr>
              <a:t>Strategy-aware scoring: Accelerated weights speed; Balanced weights evenness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FRONTEND</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Four Views, One Source of Truth</a:t>
            </a:r>
            <a:endParaRPr lang="en-US" sz="2800" dirty="0"/>
          </a:p>
        </p:txBody>
      </p:sp>
      <p:sp>
        <p:nvSpPr>
          <p:cNvPr id="5" name="Shape 3"/>
          <p:cNvSpPr/>
          <p:nvPr/>
        </p:nvSpPr>
        <p:spPr>
          <a:xfrm>
            <a:off x="411480" y="1335024"/>
            <a:ext cx="502920" cy="502920"/>
          </a:xfrm>
          <a:prstGeom prst="rect">
            <a:avLst/>
          </a:prstGeom>
          <a:solidFill>
            <a:srgbClr val="CC0000"/>
          </a:solidFill>
          <a:ln w="12700">
            <a:solidFill>
              <a:srgbClr val="333333"/>
            </a:solidFill>
            <a:prstDash val="solid"/>
          </a:ln>
        </p:spPr>
        <p:txBody>
          <a:bodyPr/>
          <a:lstStyle/>
          <a:p>
            <a:endParaRPr lang="en-US"/>
          </a:p>
        </p:txBody>
      </p:sp>
      <p:sp>
        <p:nvSpPr>
          <p:cNvPr id="6" name="Text 4"/>
          <p:cNvSpPr/>
          <p:nvPr/>
        </p:nvSpPr>
        <p:spPr>
          <a:xfrm>
            <a:off x="411480" y="1353312"/>
            <a:ext cx="5029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78992" y="1298448"/>
            <a:ext cx="274320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Schedule View</a:t>
            </a:r>
            <a:endParaRPr lang="en-US" sz="1300" dirty="0"/>
          </a:p>
        </p:txBody>
      </p:sp>
      <p:sp>
        <p:nvSpPr>
          <p:cNvPr id="8" name="Text 6"/>
          <p:cNvSpPr/>
          <p:nvPr/>
        </p:nvSpPr>
        <p:spPr>
          <a:xfrm>
            <a:off x="1078992" y="1664208"/>
            <a:ext cx="7589520" cy="384048"/>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Three ranked plans. Upcoming semester gets real meeting times; future semesters show 'TBD'. Click any course for details and reasoning.</a:t>
            </a:r>
            <a:endParaRPr lang="en-US" sz="1050" dirty="0"/>
          </a:p>
        </p:txBody>
      </p:sp>
      <p:sp>
        <p:nvSpPr>
          <p:cNvPr id="9" name="Shape 7"/>
          <p:cNvSpPr/>
          <p:nvPr/>
        </p:nvSpPr>
        <p:spPr>
          <a:xfrm>
            <a:off x="411480" y="2112264"/>
            <a:ext cx="8321040" cy="9144"/>
          </a:xfrm>
          <a:prstGeom prst="rect">
            <a:avLst/>
          </a:prstGeom>
          <a:solidFill>
            <a:srgbClr val="E8E8E8"/>
          </a:solidFill>
          <a:ln w="12700">
            <a:solidFill>
              <a:srgbClr val="333333"/>
            </a:solidFill>
            <a:prstDash val="solid"/>
          </a:ln>
        </p:spPr>
        <p:txBody>
          <a:bodyPr/>
          <a:lstStyle/>
          <a:p>
            <a:endParaRPr lang="en-US"/>
          </a:p>
        </p:txBody>
      </p:sp>
      <p:sp>
        <p:nvSpPr>
          <p:cNvPr id="10" name="Shape 8"/>
          <p:cNvSpPr/>
          <p:nvPr/>
        </p:nvSpPr>
        <p:spPr>
          <a:xfrm>
            <a:off x="411480" y="2221992"/>
            <a:ext cx="502920" cy="502920"/>
          </a:xfrm>
          <a:prstGeom prst="rect">
            <a:avLst/>
          </a:prstGeom>
          <a:solidFill>
            <a:srgbClr val="CC0000"/>
          </a:solidFill>
          <a:ln w="12700">
            <a:solidFill>
              <a:srgbClr val="333333"/>
            </a:solidFill>
            <a:prstDash val="solid"/>
          </a:ln>
        </p:spPr>
        <p:txBody>
          <a:bodyPr/>
          <a:lstStyle/>
          <a:p>
            <a:endParaRPr lang="en-US"/>
          </a:p>
        </p:txBody>
      </p:sp>
      <p:sp>
        <p:nvSpPr>
          <p:cNvPr id="11" name="Text 9"/>
          <p:cNvSpPr/>
          <p:nvPr/>
        </p:nvSpPr>
        <p:spPr>
          <a:xfrm>
            <a:off x="411480" y="2240280"/>
            <a:ext cx="5029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2" name="Text 10"/>
          <p:cNvSpPr/>
          <p:nvPr/>
        </p:nvSpPr>
        <p:spPr>
          <a:xfrm>
            <a:off x="1078992" y="2185416"/>
            <a:ext cx="274320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Progress Page</a:t>
            </a:r>
            <a:endParaRPr lang="en-US" sz="1300" dirty="0"/>
          </a:p>
        </p:txBody>
      </p:sp>
      <p:sp>
        <p:nvSpPr>
          <p:cNvPr id="13" name="Text 11"/>
          <p:cNvSpPr/>
          <p:nvPr/>
        </p:nvSpPr>
        <p:spPr>
          <a:xfrm>
            <a:off x="1078992" y="2551176"/>
            <a:ext cx="7589520" cy="384048"/>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Credit bars broken into Major, Connections Curriculum, and Free Electives. Click any course to toggle completion instantly.</a:t>
            </a:r>
            <a:endParaRPr lang="en-US" sz="1050" dirty="0"/>
          </a:p>
        </p:txBody>
      </p:sp>
      <p:sp>
        <p:nvSpPr>
          <p:cNvPr id="14" name="Shape 12"/>
          <p:cNvSpPr/>
          <p:nvPr/>
        </p:nvSpPr>
        <p:spPr>
          <a:xfrm>
            <a:off x="411480" y="2999232"/>
            <a:ext cx="8321040" cy="9144"/>
          </a:xfrm>
          <a:prstGeom prst="rect">
            <a:avLst/>
          </a:prstGeom>
          <a:solidFill>
            <a:srgbClr val="E8E8E8"/>
          </a:solidFill>
          <a:ln w="12700">
            <a:solidFill>
              <a:srgbClr val="333333"/>
            </a:solidFill>
            <a:prstDash val="solid"/>
          </a:ln>
        </p:spPr>
        <p:txBody>
          <a:bodyPr/>
          <a:lstStyle/>
          <a:p>
            <a:endParaRPr lang="en-US"/>
          </a:p>
        </p:txBody>
      </p:sp>
      <p:sp>
        <p:nvSpPr>
          <p:cNvPr id="15" name="Shape 13"/>
          <p:cNvSpPr/>
          <p:nvPr/>
        </p:nvSpPr>
        <p:spPr>
          <a:xfrm>
            <a:off x="411480" y="3108960"/>
            <a:ext cx="502920" cy="502920"/>
          </a:xfrm>
          <a:prstGeom prst="rect">
            <a:avLst/>
          </a:prstGeom>
          <a:solidFill>
            <a:srgbClr val="CC0000"/>
          </a:solidFill>
          <a:ln w="12700">
            <a:solidFill>
              <a:srgbClr val="333333"/>
            </a:solidFill>
            <a:prstDash val="solid"/>
          </a:ln>
        </p:spPr>
        <p:txBody>
          <a:bodyPr/>
          <a:lstStyle/>
          <a:p>
            <a:endParaRPr lang="en-US"/>
          </a:p>
        </p:txBody>
      </p:sp>
      <p:sp>
        <p:nvSpPr>
          <p:cNvPr id="16" name="Text 14"/>
          <p:cNvSpPr/>
          <p:nvPr/>
        </p:nvSpPr>
        <p:spPr>
          <a:xfrm>
            <a:off x="411480" y="3127248"/>
            <a:ext cx="5029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7" name="Text 15"/>
          <p:cNvSpPr/>
          <p:nvPr/>
        </p:nvSpPr>
        <p:spPr>
          <a:xfrm>
            <a:off x="1078992" y="3072384"/>
            <a:ext cx="274320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Prerequisite Map</a:t>
            </a:r>
            <a:endParaRPr lang="en-US" sz="1300" dirty="0"/>
          </a:p>
        </p:txBody>
      </p:sp>
      <p:sp>
        <p:nvSpPr>
          <p:cNvPr id="18" name="Text 16"/>
          <p:cNvSpPr/>
          <p:nvPr/>
        </p:nvSpPr>
        <p:spPr>
          <a:xfrm>
            <a:off x="1078992" y="3438144"/>
            <a:ext cx="7589520" cy="384048"/>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Dynamic dependency chain built from live catalog. Completed courses highlighted green. Double-click to mark done.</a:t>
            </a:r>
            <a:endParaRPr lang="en-US" sz="1050" dirty="0"/>
          </a:p>
        </p:txBody>
      </p:sp>
      <p:sp>
        <p:nvSpPr>
          <p:cNvPr id="19" name="Shape 17"/>
          <p:cNvSpPr/>
          <p:nvPr/>
        </p:nvSpPr>
        <p:spPr>
          <a:xfrm>
            <a:off x="411480" y="3886200"/>
            <a:ext cx="8321040" cy="9144"/>
          </a:xfrm>
          <a:prstGeom prst="rect">
            <a:avLst/>
          </a:prstGeom>
          <a:solidFill>
            <a:srgbClr val="E8E8E8"/>
          </a:solidFill>
          <a:ln w="12700">
            <a:solidFill>
              <a:srgbClr val="333333"/>
            </a:solidFill>
            <a:prstDash val="solid"/>
          </a:ln>
        </p:spPr>
        <p:txBody>
          <a:bodyPr/>
          <a:lstStyle/>
          <a:p>
            <a:endParaRPr lang="en-US"/>
          </a:p>
        </p:txBody>
      </p:sp>
      <p:sp>
        <p:nvSpPr>
          <p:cNvPr id="20" name="Shape 18"/>
          <p:cNvSpPr/>
          <p:nvPr/>
        </p:nvSpPr>
        <p:spPr>
          <a:xfrm>
            <a:off x="411480" y="3995928"/>
            <a:ext cx="502920" cy="502920"/>
          </a:xfrm>
          <a:prstGeom prst="rect">
            <a:avLst/>
          </a:prstGeom>
          <a:solidFill>
            <a:srgbClr val="CC0000"/>
          </a:solidFill>
          <a:ln w="12700">
            <a:solidFill>
              <a:srgbClr val="333333"/>
            </a:solidFill>
            <a:prstDash val="solid"/>
          </a:ln>
        </p:spPr>
        <p:txBody>
          <a:bodyPr/>
          <a:lstStyle/>
          <a:p>
            <a:endParaRPr lang="en-US"/>
          </a:p>
        </p:txBody>
      </p:sp>
      <p:sp>
        <p:nvSpPr>
          <p:cNvPr id="21" name="Text 19"/>
          <p:cNvSpPr/>
          <p:nvPr/>
        </p:nvSpPr>
        <p:spPr>
          <a:xfrm>
            <a:off x="411480" y="4014216"/>
            <a:ext cx="50292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2" name="Text 20"/>
          <p:cNvSpPr/>
          <p:nvPr/>
        </p:nvSpPr>
        <p:spPr>
          <a:xfrm>
            <a:off x="1078992" y="3959352"/>
            <a:ext cx="2743200" cy="347472"/>
          </a:xfrm>
          <a:prstGeom prst="rect">
            <a:avLst/>
          </a:prstGeom>
          <a:noFill/>
          <a:ln/>
        </p:spPr>
        <p:txBody>
          <a:bodyPr wrap="square" lIns="0" tIns="0" rIns="0" bIns="0" rtlCol="0" anchor="ctr"/>
          <a:lstStyle/>
          <a:p>
            <a:pPr marL="0" indent="0" algn="l">
              <a:buNone/>
            </a:pPr>
            <a:r>
              <a:rPr lang="en-US" sz="1300" b="1" dirty="0">
                <a:solidFill>
                  <a:srgbClr val="111111"/>
                </a:solidFill>
                <a:latin typeface="Calibri" pitchFamily="34" charset="0"/>
                <a:ea typeface="Calibri" pitchFamily="34" charset="-122"/>
                <a:cs typeface="Calibri" pitchFamily="34" charset="-120"/>
              </a:rPr>
              <a:t>Compare View</a:t>
            </a:r>
            <a:endParaRPr lang="en-US" sz="1300" dirty="0"/>
          </a:p>
        </p:txBody>
      </p:sp>
      <p:sp>
        <p:nvSpPr>
          <p:cNvPr id="23" name="Text 21"/>
          <p:cNvSpPr/>
          <p:nvPr/>
        </p:nvSpPr>
        <p:spPr>
          <a:xfrm>
            <a:off x="1078992" y="4325112"/>
            <a:ext cx="7589520" cy="384048"/>
          </a:xfrm>
          <a:prstGeom prst="rect">
            <a:avLst/>
          </a:prstGeom>
          <a:noFill/>
          <a:ln/>
        </p:spPr>
        <p:txBody>
          <a:bodyPr wrap="square" lIns="0" tIns="0" rIns="0" bIns="0" rtlCol="0" anchor="ctr"/>
          <a:lstStyle/>
          <a:p>
            <a:pPr marL="0" indent="0" algn="l">
              <a:buNone/>
            </a:pPr>
            <a:r>
              <a:rPr lang="en-US" sz="1050" dirty="0">
                <a:solidFill>
                  <a:srgbClr val="6B6B6B"/>
                </a:solidFill>
                <a:latin typeface="Calibri" pitchFamily="34" charset="0"/>
                <a:ea typeface="Calibri" pitchFamily="34" charset="-122"/>
                <a:cs typeface="Calibri" pitchFamily="34" charset="-120"/>
              </a:rPr>
              <a:t>Side-by-side Finance vs Data Science requirements. All courses colored green when completed — synced with same backend state.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7"/>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CHALLENGES</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What Made This Hard</a:t>
            </a:r>
            <a:endParaRPr lang="en-US" sz="2800" dirty="0"/>
          </a:p>
        </p:txBody>
      </p:sp>
      <p:sp>
        <p:nvSpPr>
          <p:cNvPr id="5" name="Shape 3"/>
          <p:cNvSpPr/>
          <p:nvPr/>
        </p:nvSpPr>
        <p:spPr>
          <a:xfrm>
            <a:off x="411480" y="129844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548640" y="1435608"/>
            <a:ext cx="347472" cy="347472"/>
          </a:xfrm>
          <a:prstGeom prst="rect">
            <a:avLst/>
          </a:prstGeom>
        </p:spPr>
      </p:pic>
      <p:sp>
        <p:nvSpPr>
          <p:cNvPr id="7" name="Text 4"/>
          <p:cNvSpPr/>
          <p:nvPr/>
        </p:nvSpPr>
        <p:spPr>
          <a:xfrm>
            <a:off x="1005840" y="1426464"/>
            <a:ext cx="3337560" cy="320040"/>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Mid-Semester Pivot</a:t>
            </a:r>
            <a:endParaRPr lang="en-US" sz="1200" dirty="0"/>
          </a:p>
        </p:txBody>
      </p:sp>
      <p:sp>
        <p:nvSpPr>
          <p:cNvPr id="8" name="Text 5"/>
          <p:cNvSpPr/>
          <p:nvPr/>
        </p:nvSpPr>
        <p:spPr>
          <a:xfrm>
            <a:off x="548640" y="1819656"/>
            <a:ext cx="3794760" cy="548640"/>
          </a:xfrm>
          <a:prstGeom prst="rect">
            <a:avLst/>
          </a:prstGeom>
          <a:noFill/>
          <a:ln/>
        </p:spPr>
        <p:txBody>
          <a:bodyPr wrap="square" lIns="0" tIns="0" rIns="0" bIns="0"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Restarting with a new concept partway through meant compressing months of normal development into weeks.</a:t>
            </a:r>
            <a:endParaRPr lang="en-US" sz="1000" dirty="0"/>
          </a:p>
        </p:txBody>
      </p:sp>
      <p:sp>
        <p:nvSpPr>
          <p:cNvPr id="9" name="Shape 6"/>
          <p:cNvSpPr/>
          <p:nvPr/>
        </p:nvSpPr>
        <p:spPr>
          <a:xfrm>
            <a:off x="4754880" y="129844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4892040" y="1435608"/>
            <a:ext cx="347472" cy="347472"/>
          </a:xfrm>
          <a:prstGeom prst="rect">
            <a:avLst/>
          </a:prstGeom>
        </p:spPr>
      </p:pic>
      <p:sp>
        <p:nvSpPr>
          <p:cNvPr id="11" name="Text 7"/>
          <p:cNvSpPr/>
          <p:nvPr/>
        </p:nvSpPr>
        <p:spPr>
          <a:xfrm>
            <a:off x="5349240" y="1426464"/>
            <a:ext cx="3337560" cy="320040"/>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State Synchronization</a:t>
            </a:r>
            <a:endParaRPr lang="en-US" sz="1200" dirty="0"/>
          </a:p>
        </p:txBody>
      </p:sp>
      <p:sp>
        <p:nvSpPr>
          <p:cNvPr id="12" name="Text 8"/>
          <p:cNvSpPr/>
          <p:nvPr/>
        </p:nvSpPr>
        <p:spPr>
          <a:xfrm>
            <a:off x="4892040" y="1819656"/>
            <a:ext cx="3794760" cy="548640"/>
          </a:xfrm>
          <a:prstGeom prst="rect">
            <a:avLst/>
          </a:prstGeom>
          <a:noFill/>
          <a:ln/>
        </p:spPr>
        <p:txBody>
          <a:bodyPr wrap="square" lIns="0" tIns="0" rIns="0" bIns="0"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Getting chatbot, scheduler, and all four frontend pages to read from the same backend state — and update atomically — was the hardest engineering problem.</a:t>
            </a:r>
            <a:endParaRPr lang="en-US" sz="1000" dirty="0"/>
          </a:p>
        </p:txBody>
      </p:sp>
      <p:sp>
        <p:nvSpPr>
          <p:cNvPr id="13" name="Shape 9"/>
          <p:cNvSpPr/>
          <p:nvPr/>
        </p:nvSpPr>
        <p:spPr>
          <a:xfrm>
            <a:off x="411480" y="253288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548640" y="2670048"/>
            <a:ext cx="347472" cy="347472"/>
          </a:xfrm>
          <a:prstGeom prst="rect">
            <a:avLst/>
          </a:prstGeom>
        </p:spPr>
      </p:pic>
      <p:sp>
        <p:nvSpPr>
          <p:cNvPr id="15" name="Text 10"/>
          <p:cNvSpPr/>
          <p:nvPr/>
        </p:nvSpPr>
        <p:spPr>
          <a:xfrm>
            <a:off x="1005840" y="2660904"/>
            <a:ext cx="3337560" cy="320040"/>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Prerequisite Logic</a:t>
            </a:r>
            <a:endParaRPr lang="en-US" sz="1200" dirty="0"/>
          </a:p>
        </p:txBody>
      </p:sp>
      <p:sp>
        <p:nvSpPr>
          <p:cNvPr id="16" name="Text 11"/>
          <p:cNvSpPr/>
          <p:nvPr/>
        </p:nvSpPr>
        <p:spPr>
          <a:xfrm>
            <a:off x="548640" y="3054096"/>
            <a:ext cx="3794760" cy="548640"/>
          </a:xfrm>
          <a:prstGeom prst="rect">
            <a:avLst/>
          </a:prstGeom>
          <a:noFill/>
          <a:ln/>
        </p:spPr>
        <p:txBody>
          <a:bodyPr wrap="square" lIns="0" tIns="0" rIns="0" bIns="0"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Course prerequisites aren't always a simple chain. OR-groups (e.g., ECON300 accepts DATA227 or BUSN210) required a custom validation model.</a:t>
            </a:r>
            <a:endParaRPr lang="en-US" sz="1000" dirty="0"/>
          </a:p>
        </p:txBody>
      </p:sp>
      <p:sp>
        <p:nvSpPr>
          <p:cNvPr id="17" name="Shape 12"/>
          <p:cNvSpPr/>
          <p:nvPr/>
        </p:nvSpPr>
        <p:spPr>
          <a:xfrm>
            <a:off x="4754880" y="253288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4892040" y="2670048"/>
            <a:ext cx="347472" cy="347472"/>
          </a:xfrm>
          <a:prstGeom prst="rect">
            <a:avLst/>
          </a:prstGeom>
        </p:spPr>
      </p:pic>
      <p:sp>
        <p:nvSpPr>
          <p:cNvPr id="19" name="Text 13"/>
          <p:cNvSpPr/>
          <p:nvPr/>
        </p:nvSpPr>
        <p:spPr>
          <a:xfrm>
            <a:off x="5349240" y="2660904"/>
            <a:ext cx="3337560" cy="320040"/>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No Database</a:t>
            </a:r>
            <a:endParaRPr lang="en-US" sz="1200" dirty="0"/>
          </a:p>
        </p:txBody>
      </p:sp>
      <p:sp>
        <p:nvSpPr>
          <p:cNvPr id="20" name="Text 14"/>
          <p:cNvSpPr/>
          <p:nvPr/>
        </p:nvSpPr>
        <p:spPr>
          <a:xfrm>
            <a:off x="4892040" y="3054096"/>
            <a:ext cx="3794760" cy="548640"/>
          </a:xfrm>
          <a:prstGeom prst="rect">
            <a:avLst/>
          </a:prstGeom>
          <a:noFill/>
          <a:ln/>
        </p:spPr>
        <p:txBody>
          <a:bodyPr wrap="square" lIns="0" tIns="0" rIns="0" bIns="0"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Managing multi-session state in-memory with no persistence meant designing carefully to avoid data loss and stale state bugs.</a:t>
            </a:r>
            <a:endParaRPr lang="en-US" sz="1000" dirty="0"/>
          </a:p>
        </p:txBody>
      </p:sp>
      <p:sp>
        <p:nvSpPr>
          <p:cNvPr id="21" name="Shape 15"/>
          <p:cNvSpPr/>
          <p:nvPr/>
        </p:nvSpPr>
        <p:spPr>
          <a:xfrm>
            <a:off x="411480" y="376732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22" name="Image 4" descr="preencoded.png"/>
          <p:cNvPicPr>
            <a:picLocks noChangeAspect="1"/>
          </p:cNvPicPr>
          <p:nvPr/>
        </p:nvPicPr>
        <p:blipFill>
          <a:blip r:embed="rId7"/>
          <a:stretch>
            <a:fillRect/>
          </a:stretch>
        </p:blipFill>
        <p:spPr>
          <a:xfrm>
            <a:off x="548640" y="3904488"/>
            <a:ext cx="347472" cy="347472"/>
          </a:xfrm>
          <a:prstGeom prst="rect">
            <a:avLst/>
          </a:prstGeom>
        </p:spPr>
      </p:pic>
      <p:sp>
        <p:nvSpPr>
          <p:cNvPr id="23" name="Text 16"/>
          <p:cNvSpPr/>
          <p:nvPr/>
        </p:nvSpPr>
        <p:spPr>
          <a:xfrm>
            <a:off x="1005840" y="3895344"/>
            <a:ext cx="3337560" cy="320040"/>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Chatbot Context</a:t>
            </a:r>
            <a:endParaRPr lang="en-US" sz="1200" dirty="0"/>
          </a:p>
        </p:txBody>
      </p:sp>
      <p:sp>
        <p:nvSpPr>
          <p:cNvPr id="24" name="Text 17"/>
          <p:cNvSpPr/>
          <p:nvPr/>
        </p:nvSpPr>
        <p:spPr>
          <a:xfrm>
            <a:off x="548640" y="4288536"/>
            <a:ext cx="3794760" cy="548640"/>
          </a:xfrm>
          <a:prstGeom prst="rect">
            <a:avLst/>
          </a:prstGeom>
          <a:noFill/>
          <a:ln/>
        </p:spPr>
        <p:txBody>
          <a:bodyPr wrap="square" lIns="0" tIns="0" rIns="0" bIns="0"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Making the chatbot remember prior answers without re-asking — while still detecting new information — required careful session state design.</a:t>
            </a:r>
            <a:endParaRPr lang="en-US" sz="1000" dirty="0"/>
          </a:p>
        </p:txBody>
      </p:sp>
      <p:sp>
        <p:nvSpPr>
          <p:cNvPr id="25" name="Shape 18"/>
          <p:cNvSpPr/>
          <p:nvPr/>
        </p:nvSpPr>
        <p:spPr>
          <a:xfrm>
            <a:off x="4754880" y="3767328"/>
            <a:ext cx="4069080" cy="11155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pic>
        <p:nvPicPr>
          <p:cNvPr id="26" name="Image 5" descr="preencoded.png"/>
          <p:cNvPicPr>
            <a:picLocks noChangeAspect="1"/>
          </p:cNvPicPr>
          <p:nvPr/>
        </p:nvPicPr>
        <p:blipFill>
          <a:blip r:embed="rId8"/>
          <a:stretch>
            <a:fillRect/>
          </a:stretch>
        </p:blipFill>
        <p:spPr>
          <a:xfrm>
            <a:off x="4892040" y="3904488"/>
            <a:ext cx="347472" cy="347472"/>
          </a:xfrm>
          <a:prstGeom prst="rect">
            <a:avLst/>
          </a:prstGeom>
        </p:spPr>
      </p:pic>
      <p:sp>
        <p:nvSpPr>
          <p:cNvPr id="27" name="Text 19"/>
          <p:cNvSpPr/>
          <p:nvPr/>
        </p:nvSpPr>
        <p:spPr>
          <a:xfrm>
            <a:off x="5349240" y="3895344"/>
            <a:ext cx="3337560" cy="320040"/>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Credit Calculation Accuracy</a:t>
            </a:r>
            <a:endParaRPr lang="en-US" sz="1200" dirty="0"/>
          </a:p>
        </p:txBody>
      </p:sp>
      <p:sp>
        <p:nvSpPr>
          <p:cNvPr id="28" name="Text 20"/>
          <p:cNvSpPr/>
          <p:nvPr/>
        </p:nvSpPr>
        <p:spPr>
          <a:xfrm>
            <a:off x="4892040" y="4288536"/>
            <a:ext cx="3794760" cy="548640"/>
          </a:xfrm>
          <a:prstGeom prst="rect">
            <a:avLst/>
          </a:prstGeom>
          <a:noFill/>
          <a:ln/>
        </p:spPr>
        <p:txBody>
          <a:bodyPr wrap="square" lIns="0" tIns="0" rIns="0" bIns="0" rtlCol="0" anchor="ctr"/>
          <a:lstStyle/>
          <a:p>
            <a:pPr marL="0" indent="0" algn="l">
              <a:buNone/>
            </a:pPr>
            <a:r>
              <a:rPr lang="en-US" sz="1000" dirty="0">
                <a:solidFill>
                  <a:srgbClr val="6B6B6B"/>
                </a:solidFill>
                <a:latin typeface="Calibri" pitchFamily="34" charset="0"/>
                <a:ea typeface="Calibri" pitchFamily="34" charset="-122"/>
                <a:cs typeface="Calibri" pitchFamily="34" charset="-120"/>
              </a:rPr>
              <a:t>Getting the credit breakdown right (separate buckets for major, gen-ed, and free electives summing to 126) took multiple iterations.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2C2C"/>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LESSONS LEARNED</a:t>
            </a:r>
            <a:endParaRPr lang="en-US" sz="800" dirty="0"/>
          </a:p>
        </p:txBody>
      </p:sp>
      <p:sp>
        <p:nvSpPr>
          <p:cNvPr id="3" name="Text 1"/>
          <p:cNvSpPr/>
          <p:nvPr/>
        </p:nvSpPr>
        <p:spPr>
          <a:xfrm>
            <a:off x="411480" y="411480"/>
            <a:ext cx="8321040" cy="658368"/>
          </a:xfrm>
          <a:prstGeom prst="rect">
            <a:avLst/>
          </a:prstGeom>
          <a:noFill/>
          <a:ln/>
        </p:spPr>
        <p:txBody>
          <a:bodyPr wrap="square" lIns="0" tIns="0" rIns="0" bIns="0" rtlCol="0" anchor="ctr"/>
          <a:lstStyle/>
          <a:p>
            <a:pPr marL="0" indent="0" algn="l">
              <a:buNone/>
            </a:pPr>
            <a:r>
              <a:rPr lang="en-US" sz="3000" b="1" dirty="0">
                <a:solidFill>
                  <a:srgbClr val="FFFFFF"/>
                </a:solidFill>
                <a:latin typeface="Georgia" pitchFamily="34" charset="0"/>
                <a:ea typeface="Georgia" pitchFamily="34" charset="-122"/>
                <a:cs typeface="Georgia" pitchFamily="34" charset="-120"/>
              </a:rPr>
              <a:t>What I'd Do Differently</a:t>
            </a:r>
            <a:endParaRPr lang="en-US" sz="3000" dirty="0"/>
          </a:p>
        </p:txBody>
      </p:sp>
      <p:sp>
        <p:nvSpPr>
          <p:cNvPr id="4" name="Shape 2"/>
          <p:cNvSpPr/>
          <p:nvPr/>
        </p:nvSpPr>
        <p:spPr>
          <a:xfrm>
            <a:off x="411480" y="1325880"/>
            <a:ext cx="438912" cy="658368"/>
          </a:xfrm>
          <a:prstGeom prst="rect">
            <a:avLst/>
          </a:prstGeom>
          <a:solidFill>
            <a:srgbClr val="CC0000"/>
          </a:solidFill>
          <a:ln w="12700">
            <a:solidFill>
              <a:srgbClr val="333333"/>
            </a:solidFill>
            <a:prstDash val="solid"/>
          </a:ln>
        </p:spPr>
        <p:txBody>
          <a:bodyPr/>
          <a:lstStyle/>
          <a:p>
            <a:endParaRPr lang="en-US"/>
          </a:p>
        </p:txBody>
      </p:sp>
      <p:sp>
        <p:nvSpPr>
          <p:cNvPr id="5" name="Text 3"/>
          <p:cNvSpPr/>
          <p:nvPr/>
        </p:nvSpPr>
        <p:spPr>
          <a:xfrm>
            <a:off x="411480" y="1399032"/>
            <a:ext cx="43891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978408" y="1362456"/>
            <a:ext cx="41148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Design the data model first</a:t>
            </a:r>
            <a:endParaRPr lang="en-US" sz="1300" dirty="0"/>
          </a:p>
        </p:txBody>
      </p:sp>
      <p:sp>
        <p:nvSpPr>
          <p:cNvPr id="7" name="Text 5"/>
          <p:cNvSpPr/>
          <p:nvPr/>
        </p:nvSpPr>
        <p:spPr>
          <a:xfrm>
            <a:off x="978408" y="1728216"/>
            <a:ext cx="7680960" cy="438912"/>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Most bugs came from not having a clear shared state design before building. A session schema defined upfront would have saved weeks.</a:t>
            </a:r>
            <a:endParaRPr lang="en-US" sz="1050" dirty="0"/>
          </a:p>
        </p:txBody>
      </p:sp>
      <p:sp>
        <p:nvSpPr>
          <p:cNvPr id="8" name="Shape 6"/>
          <p:cNvSpPr/>
          <p:nvPr/>
        </p:nvSpPr>
        <p:spPr>
          <a:xfrm>
            <a:off x="411480" y="2203704"/>
            <a:ext cx="438912" cy="658368"/>
          </a:xfrm>
          <a:prstGeom prst="rect">
            <a:avLst/>
          </a:prstGeom>
          <a:solidFill>
            <a:srgbClr val="CC0000"/>
          </a:solidFill>
          <a:ln w="12700">
            <a:solidFill>
              <a:srgbClr val="333333"/>
            </a:solidFill>
            <a:prstDash val="solid"/>
          </a:ln>
        </p:spPr>
        <p:txBody>
          <a:bodyPr/>
          <a:lstStyle/>
          <a:p>
            <a:endParaRPr lang="en-US"/>
          </a:p>
        </p:txBody>
      </p:sp>
      <p:sp>
        <p:nvSpPr>
          <p:cNvPr id="9" name="Text 7"/>
          <p:cNvSpPr/>
          <p:nvPr/>
        </p:nvSpPr>
        <p:spPr>
          <a:xfrm>
            <a:off x="411480" y="2276856"/>
            <a:ext cx="43891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0" name="Text 8"/>
          <p:cNvSpPr/>
          <p:nvPr/>
        </p:nvSpPr>
        <p:spPr>
          <a:xfrm>
            <a:off x="978408" y="2240280"/>
            <a:ext cx="41148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Backend as sole source of truth — from day one</a:t>
            </a:r>
            <a:endParaRPr lang="en-US" sz="1300" dirty="0"/>
          </a:p>
        </p:txBody>
      </p:sp>
      <p:sp>
        <p:nvSpPr>
          <p:cNvPr id="11" name="Text 9"/>
          <p:cNvSpPr/>
          <p:nvPr/>
        </p:nvSpPr>
        <p:spPr>
          <a:xfrm>
            <a:off x="978408" y="2606040"/>
            <a:ext cx="7680960" cy="438912"/>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Mixing frontend and backend logic created sync bugs that were painful to untangle. The right architecture was obvious in retrospect, not during early development.</a:t>
            </a:r>
            <a:endParaRPr lang="en-US" sz="1050" dirty="0"/>
          </a:p>
        </p:txBody>
      </p:sp>
      <p:sp>
        <p:nvSpPr>
          <p:cNvPr id="12" name="Shape 10"/>
          <p:cNvSpPr/>
          <p:nvPr/>
        </p:nvSpPr>
        <p:spPr>
          <a:xfrm>
            <a:off x="411480" y="3081528"/>
            <a:ext cx="438912" cy="658368"/>
          </a:xfrm>
          <a:prstGeom prst="rect">
            <a:avLst/>
          </a:prstGeom>
          <a:solidFill>
            <a:srgbClr val="CC0000"/>
          </a:solidFill>
          <a:ln w="12700">
            <a:solidFill>
              <a:srgbClr val="333333"/>
            </a:solidFill>
            <a:prstDash val="solid"/>
          </a:ln>
        </p:spPr>
        <p:txBody>
          <a:bodyPr/>
          <a:lstStyle/>
          <a:p>
            <a:endParaRPr lang="en-US"/>
          </a:p>
        </p:txBody>
      </p:sp>
      <p:sp>
        <p:nvSpPr>
          <p:cNvPr id="13" name="Text 11"/>
          <p:cNvSpPr/>
          <p:nvPr/>
        </p:nvSpPr>
        <p:spPr>
          <a:xfrm>
            <a:off x="411480" y="3154680"/>
            <a:ext cx="43891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4" name="Text 12"/>
          <p:cNvSpPr/>
          <p:nvPr/>
        </p:nvSpPr>
        <p:spPr>
          <a:xfrm>
            <a:off x="978408" y="3118104"/>
            <a:ext cx="41148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Scope earlier, iterate faster</a:t>
            </a:r>
            <a:endParaRPr lang="en-US" sz="1300" dirty="0"/>
          </a:p>
        </p:txBody>
      </p:sp>
      <p:sp>
        <p:nvSpPr>
          <p:cNvPr id="15" name="Text 13"/>
          <p:cNvSpPr/>
          <p:nvPr/>
        </p:nvSpPr>
        <p:spPr>
          <a:xfrm>
            <a:off x="978408" y="3483864"/>
            <a:ext cx="7680960" cy="438912"/>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The pivot was ultimately the right call — but committing to it sooner would have given more runway for polish and testing.</a:t>
            </a:r>
            <a:endParaRPr lang="en-US" sz="1050" dirty="0"/>
          </a:p>
        </p:txBody>
      </p:sp>
      <p:sp>
        <p:nvSpPr>
          <p:cNvPr id="16" name="Shape 14"/>
          <p:cNvSpPr/>
          <p:nvPr/>
        </p:nvSpPr>
        <p:spPr>
          <a:xfrm>
            <a:off x="411480" y="3959352"/>
            <a:ext cx="438912" cy="658368"/>
          </a:xfrm>
          <a:prstGeom prst="rect">
            <a:avLst/>
          </a:prstGeom>
          <a:solidFill>
            <a:srgbClr val="CC0000"/>
          </a:solidFill>
          <a:ln w="12700">
            <a:solidFill>
              <a:srgbClr val="333333"/>
            </a:solidFill>
            <a:prstDash val="solid"/>
          </a:ln>
        </p:spPr>
        <p:txBody>
          <a:bodyPr/>
          <a:lstStyle/>
          <a:p>
            <a:endParaRPr lang="en-US"/>
          </a:p>
        </p:txBody>
      </p:sp>
      <p:sp>
        <p:nvSpPr>
          <p:cNvPr id="17" name="Text 15"/>
          <p:cNvSpPr/>
          <p:nvPr/>
        </p:nvSpPr>
        <p:spPr>
          <a:xfrm>
            <a:off x="411480" y="4032504"/>
            <a:ext cx="438912"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18" name="Text 16"/>
          <p:cNvSpPr/>
          <p:nvPr/>
        </p:nvSpPr>
        <p:spPr>
          <a:xfrm>
            <a:off x="978408" y="3995928"/>
            <a:ext cx="4114800" cy="347472"/>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Test edge cases in data first</a:t>
            </a:r>
            <a:endParaRPr lang="en-US" sz="1300" dirty="0"/>
          </a:p>
        </p:txBody>
      </p:sp>
      <p:sp>
        <p:nvSpPr>
          <p:cNvPr id="19" name="Text 17"/>
          <p:cNvSpPr/>
          <p:nvPr/>
        </p:nvSpPr>
        <p:spPr>
          <a:xfrm>
            <a:off x="978408" y="4361688"/>
            <a:ext cx="7680960" cy="438912"/>
          </a:xfrm>
          <a:prstGeom prst="rect">
            <a:avLst/>
          </a:prstGeom>
          <a:noFill/>
          <a:ln/>
        </p:spPr>
        <p:txBody>
          <a:bodyPr wrap="square" lIns="0" tIns="0" rIns="0" bIns="0" rtlCol="0" anchor="ctr"/>
          <a:lstStyle/>
          <a:p>
            <a:pPr marL="0" indent="0" algn="l">
              <a:buNone/>
            </a:pPr>
            <a:r>
              <a:rPr lang="en-US" sz="1050" dirty="0">
                <a:solidFill>
                  <a:srgbClr val="AAAAAA"/>
                </a:solidFill>
                <a:latin typeface="Calibri" pitchFamily="34" charset="0"/>
                <a:ea typeface="Calibri" pitchFamily="34" charset="-122"/>
                <a:cs typeface="Calibri" pitchFamily="34" charset="-120"/>
              </a:rPr>
              <a:t>The OR-prerequisite problem, the 126 vs 124 credit count, the BUSN210/DATA227 equivalency — all were data model issues that broke downstream logic unexpectedly.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FUTURE WORK</a:t>
            </a:r>
            <a:endParaRPr lang="en-US" sz="800" dirty="0"/>
          </a:p>
        </p:txBody>
      </p:sp>
      <p:sp>
        <p:nvSpPr>
          <p:cNvPr id="3" name="Shape 1"/>
          <p:cNvSpPr/>
          <p:nvPr/>
        </p:nvSpPr>
        <p:spPr>
          <a:xfrm>
            <a:off x="411480" y="411480"/>
            <a:ext cx="54864" cy="658368"/>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84048"/>
            <a:ext cx="8138160" cy="658368"/>
          </a:xfrm>
          <a:prstGeom prst="rect">
            <a:avLst/>
          </a:prstGeom>
          <a:noFill/>
          <a:ln/>
        </p:spPr>
        <p:txBody>
          <a:bodyPr wrap="square" lIns="0" tIns="0" rIns="0" bIns="0" rtlCol="0" anchor="ctr"/>
          <a:lstStyle/>
          <a:p>
            <a:pPr marL="0" indent="0" algn="l">
              <a:buNone/>
            </a:pPr>
            <a:r>
              <a:rPr lang="en-US" sz="2800" b="1" dirty="0">
                <a:solidFill>
                  <a:srgbClr val="111111"/>
                </a:solidFill>
                <a:latin typeface="Georgia" pitchFamily="34" charset="0"/>
                <a:ea typeface="Georgia" pitchFamily="34" charset="-122"/>
                <a:cs typeface="Georgia" pitchFamily="34" charset="-120"/>
              </a:rPr>
              <a:t>Where Pathfinder Goes Next</a:t>
            </a:r>
            <a:endParaRPr lang="en-US" sz="2800" dirty="0"/>
          </a:p>
        </p:txBody>
      </p:sp>
      <p:sp>
        <p:nvSpPr>
          <p:cNvPr id="5" name="Shape 3"/>
          <p:cNvSpPr/>
          <p:nvPr/>
        </p:nvSpPr>
        <p:spPr>
          <a:xfrm>
            <a:off x="411480" y="1298448"/>
            <a:ext cx="2606040" cy="15727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6" name="Shape 4"/>
          <p:cNvSpPr/>
          <p:nvPr/>
        </p:nvSpPr>
        <p:spPr>
          <a:xfrm>
            <a:off x="411480" y="1298448"/>
            <a:ext cx="2606040" cy="256032"/>
          </a:xfrm>
          <a:prstGeom prst="rect">
            <a:avLst/>
          </a:prstGeom>
          <a:solidFill>
            <a:srgbClr val="2A8A2A"/>
          </a:solidFill>
          <a:ln w="12700">
            <a:solidFill>
              <a:srgbClr val="333333"/>
            </a:solidFill>
            <a:prstDash val="solid"/>
          </a:ln>
        </p:spPr>
        <p:txBody>
          <a:bodyPr/>
          <a:lstStyle/>
          <a:p>
            <a:endParaRPr lang="en-US"/>
          </a:p>
        </p:txBody>
      </p:sp>
      <p:sp>
        <p:nvSpPr>
          <p:cNvPr id="7" name="Text 5"/>
          <p:cNvSpPr/>
          <p:nvPr/>
        </p:nvSpPr>
        <p:spPr>
          <a:xfrm>
            <a:off x="411480" y="1316736"/>
            <a:ext cx="2606040" cy="219456"/>
          </a:xfrm>
          <a:prstGeom prst="rect">
            <a:avLst/>
          </a:prstGeom>
          <a:noFill/>
          <a:ln/>
        </p:spPr>
        <p:txBody>
          <a:bodyPr wrap="square" lIns="0" tIns="0" rIns="0" bIns="0" rtlCol="0" anchor="ctr"/>
          <a:lstStyle/>
          <a:p>
            <a:pPr marL="0" indent="0" algn="ctr">
              <a:buNone/>
            </a:pPr>
            <a:r>
              <a:rPr lang="en-US" sz="800" kern="0" spc="200" dirty="0">
                <a:solidFill>
                  <a:srgbClr val="FFFFFF"/>
                </a:solidFill>
                <a:latin typeface="Calibri" pitchFamily="34" charset="0"/>
                <a:ea typeface="Calibri" pitchFamily="34" charset="-122"/>
                <a:cs typeface="Calibri" pitchFamily="34" charset="-120"/>
              </a:rPr>
              <a:t>Near-Term</a:t>
            </a:r>
            <a:endParaRPr lang="en-US" sz="800" dirty="0"/>
          </a:p>
        </p:txBody>
      </p:sp>
      <p:pic>
        <p:nvPicPr>
          <p:cNvPr id="8" name="Image 0" descr="preencoded.png"/>
          <p:cNvPicPr>
            <a:picLocks noChangeAspect="1"/>
          </p:cNvPicPr>
          <p:nvPr/>
        </p:nvPicPr>
        <p:blipFill>
          <a:blip r:embed="rId3"/>
          <a:stretch>
            <a:fillRect/>
          </a:stretch>
        </p:blipFill>
        <p:spPr>
          <a:xfrm>
            <a:off x="548640" y="1645920"/>
            <a:ext cx="347472" cy="347472"/>
          </a:xfrm>
          <a:prstGeom prst="rect">
            <a:avLst/>
          </a:prstGeom>
        </p:spPr>
      </p:pic>
      <p:sp>
        <p:nvSpPr>
          <p:cNvPr id="9" name="Text 6"/>
          <p:cNvSpPr/>
          <p:nvPr/>
        </p:nvSpPr>
        <p:spPr>
          <a:xfrm>
            <a:off x="1005840" y="1645920"/>
            <a:ext cx="1920240" cy="347472"/>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Real Database</a:t>
            </a:r>
            <a:endParaRPr lang="en-US" sz="1200" dirty="0"/>
          </a:p>
        </p:txBody>
      </p:sp>
      <p:sp>
        <p:nvSpPr>
          <p:cNvPr id="10" name="Text 7"/>
          <p:cNvSpPr/>
          <p:nvPr/>
        </p:nvSpPr>
        <p:spPr>
          <a:xfrm>
            <a:off x="548640" y="2075688"/>
            <a:ext cx="2331720" cy="74980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PostgreSQL backend replacing in-memory state. Persistent profiles survive session restarts.</a:t>
            </a:r>
            <a:endParaRPr lang="en-US" sz="950" dirty="0"/>
          </a:p>
        </p:txBody>
      </p:sp>
      <p:sp>
        <p:nvSpPr>
          <p:cNvPr id="11" name="Shape 8"/>
          <p:cNvSpPr/>
          <p:nvPr/>
        </p:nvSpPr>
        <p:spPr>
          <a:xfrm>
            <a:off x="3246120" y="1298448"/>
            <a:ext cx="2606040" cy="15727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12" name="Shape 9"/>
          <p:cNvSpPr/>
          <p:nvPr/>
        </p:nvSpPr>
        <p:spPr>
          <a:xfrm>
            <a:off x="3246120" y="1298448"/>
            <a:ext cx="2606040" cy="256032"/>
          </a:xfrm>
          <a:prstGeom prst="rect">
            <a:avLst/>
          </a:prstGeom>
          <a:solidFill>
            <a:srgbClr val="2A8A2A"/>
          </a:solidFill>
          <a:ln w="12700">
            <a:solidFill>
              <a:srgbClr val="333333"/>
            </a:solidFill>
            <a:prstDash val="solid"/>
          </a:ln>
        </p:spPr>
        <p:txBody>
          <a:bodyPr/>
          <a:lstStyle/>
          <a:p>
            <a:endParaRPr lang="en-US"/>
          </a:p>
        </p:txBody>
      </p:sp>
      <p:sp>
        <p:nvSpPr>
          <p:cNvPr id="13" name="Text 10"/>
          <p:cNvSpPr/>
          <p:nvPr/>
        </p:nvSpPr>
        <p:spPr>
          <a:xfrm>
            <a:off x="3246120" y="1316736"/>
            <a:ext cx="2606040" cy="219456"/>
          </a:xfrm>
          <a:prstGeom prst="rect">
            <a:avLst/>
          </a:prstGeom>
          <a:noFill/>
          <a:ln/>
        </p:spPr>
        <p:txBody>
          <a:bodyPr wrap="square" lIns="0" tIns="0" rIns="0" bIns="0" rtlCol="0" anchor="ctr"/>
          <a:lstStyle/>
          <a:p>
            <a:pPr marL="0" indent="0" algn="ctr">
              <a:buNone/>
            </a:pPr>
            <a:r>
              <a:rPr lang="en-US" sz="800" kern="0" spc="200" dirty="0">
                <a:solidFill>
                  <a:srgbClr val="FFFFFF"/>
                </a:solidFill>
                <a:latin typeface="Calibri" pitchFamily="34" charset="0"/>
                <a:ea typeface="Calibri" pitchFamily="34" charset="-122"/>
                <a:cs typeface="Calibri" pitchFamily="34" charset="-120"/>
              </a:rPr>
              <a:t>Near-Term</a:t>
            </a:r>
            <a:endParaRPr lang="en-US" sz="800" dirty="0"/>
          </a:p>
        </p:txBody>
      </p:sp>
      <p:pic>
        <p:nvPicPr>
          <p:cNvPr id="14" name="Image 1" descr="preencoded.png"/>
          <p:cNvPicPr>
            <a:picLocks noChangeAspect="1"/>
          </p:cNvPicPr>
          <p:nvPr/>
        </p:nvPicPr>
        <p:blipFill>
          <a:blip r:embed="rId4"/>
          <a:stretch>
            <a:fillRect/>
          </a:stretch>
        </p:blipFill>
        <p:spPr>
          <a:xfrm>
            <a:off x="3383280" y="1645920"/>
            <a:ext cx="347472" cy="347472"/>
          </a:xfrm>
          <a:prstGeom prst="rect">
            <a:avLst/>
          </a:prstGeom>
        </p:spPr>
      </p:pic>
      <p:sp>
        <p:nvSpPr>
          <p:cNvPr id="15" name="Text 11"/>
          <p:cNvSpPr/>
          <p:nvPr/>
        </p:nvSpPr>
        <p:spPr>
          <a:xfrm>
            <a:off x="3840480" y="1645920"/>
            <a:ext cx="1920240" cy="347472"/>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Multi-User Support</a:t>
            </a:r>
            <a:endParaRPr lang="en-US" sz="1200" dirty="0"/>
          </a:p>
        </p:txBody>
      </p:sp>
      <p:sp>
        <p:nvSpPr>
          <p:cNvPr id="16" name="Text 12"/>
          <p:cNvSpPr/>
          <p:nvPr/>
        </p:nvSpPr>
        <p:spPr>
          <a:xfrm>
            <a:off x="3383280" y="2075688"/>
            <a:ext cx="2331720" cy="74980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Each student has their own account. Advisors can view and annotate student plans.</a:t>
            </a:r>
            <a:endParaRPr lang="en-US" sz="950" dirty="0"/>
          </a:p>
        </p:txBody>
      </p:sp>
      <p:sp>
        <p:nvSpPr>
          <p:cNvPr id="17" name="Shape 13"/>
          <p:cNvSpPr/>
          <p:nvPr/>
        </p:nvSpPr>
        <p:spPr>
          <a:xfrm>
            <a:off x="6080760" y="1298448"/>
            <a:ext cx="2606040" cy="15727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18" name="Shape 14"/>
          <p:cNvSpPr/>
          <p:nvPr/>
        </p:nvSpPr>
        <p:spPr>
          <a:xfrm>
            <a:off x="6080760" y="1298448"/>
            <a:ext cx="2606040" cy="256032"/>
          </a:xfrm>
          <a:prstGeom prst="rect">
            <a:avLst/>
          </a:prstGeom>
          <a:solidFill>
            <a:srgbClr val="CC0000"/>
          </a:solidFill>
          <a:ln w="12700">
            <a:solidFill>
              <a:srgbClr val="333333"/>
            </a:solidFill>
            <a:prstDash val="solid"/>
          </a:ln>
        </p:spPr>
        <p:txBody>
          <a:bodyPr/>
          <a:lstStyle/>
          <a:p>
            <a:endParaRPr lang="en-US"/>
          </a:p>
        </p:txBody>
      </p:sp>
      <p:sp>
        <p:nvSpPr>
          <p:cNvPr id="19" name="Text 15"/>
          <p:cNvSpPr/>
          <p:nvPr/>
        </p:nvSpPr>
        <p:spPr>
          <a:xfrm>
            <a:off x="6080760" y="1316736"/>
            <a:ext cx="2606040" cy="219456"/>
          </a:xfrm>
          <a:prstGeom prst="rect">
            <a:avLst/>
          </a:prstGeom>
          <a:noFill/>
          <a:ln/>
        </p:spPr>
        <p:txBody>
          <a:bodyPr wrap="square" lIns="0" tIns="0" rIns="0" bIns="0" rtlCol="0" anchor="ctr"/>
          <a:lstStyle/>
          <a:p>
            <a:pPr marL="0" indent="0" algn="ctr">
              <a:buNone/>
            </a:pPr>
            <a:r>
              <a:rPr lang="en-US" sz="800" kern="0" spc="200" dirty="0">
                <a:solidFill>
                  <a:srgbClr val="FFFFFF"/>
                </a:solidFill>
                <a:latin typeface="Calibri" pitchFamily="34" charset="0"/>
                <a:ea typeface="Calibri" pitchFamily="34" charset="-122"/>
                <a:cs typeface="Calibri" pitchFamily="34" charset="-120"/>
              </a:rPr>
              <a:t>Mid-Term</a:t>
            </a:r>
            <a:endParaRPr lang="en-US" sz="800" dirty="0"/>
          </a:p>
        </p:txBody>
      </p:sp>
      <p:pic>
        <p:nvPicPr>
          <p:cNvPr id="20" name="Image 2" descr="preencoded.png"/>
          <p:cNvPicPr>
            <a:picLocks noChangeAspect="1"/>
          </p:cNvPicPr>
          <p:nvPr/>
        </p:nvPicPr>
        <p:blipFill>
          <a:blip r:embed="rId5"/>
          <a:stretch>
            <a:fillRect/>
          </a:stretch>
        </p:blipFill>
        <p:spPr>
          <a:xfrm>
            <a:off x="6217920" y="1645920"/>
            <a:ext cx="347472" cy="347472"/>
          </a:xfrm>
          <a:prstGeom prst="rect">
            <a:avLst/>
          </a:prstGeom>
        </p:spPr>
      </p:pic>
      <p:sp>
        <p:nvSpPr>
          <p:cNvPr id="21" name="Text 16"/>
          <p:cNvSpPr/>
          <p:nvPr/>
        </p:nvSpPr>
        <p:spPr>
          <a:xfrm>
            <a:off x="6675120" y="1645920"/>
            <a:ext cx="1920240" cy="347472"/>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Self-Service Integration</a:t>
            </a:r>
            <a:endParaRPr lang="en-US" sz="1200" dirty="0"/>
          </a:p>
        </p:txBody>
      </p:sp>
      <p:sp>
        <p:nvSpPr>
          <p:cNvPr id="22" name="Text 17"/>
          <p:cNvSpPr/>
          <p:nvPr/>
        </p:nvSpPr>
        <p:spPr>
          <a:xfrm>
            <a:off x="6217920" y="2075688"/>
            <a:ext cx="2331720" cy="74980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Pull live enrollment data from Wittenberg's existing system — real seat counts, real waitlists.</a:t>
            </a:r>
            <a:endParaRPr lang="en-US" sz="950" dirty="0"/>
          </a:p>
        </p:txBody>
      </p:sp>
      <p:sp>
        <p:nvSpPr>
          <p:cNvPr id="23" name="Shape 18"/>
          <p:cNvSpPr/>
          <p:nvPr/>
        </p:nvSpPr>
        <p:spPr>
          <a:xfrm>
            <a:off x="411480" y="2990088"/>
            <a:ext cx="2606040" cy="15727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24" name="Shape 19"/>
          <p:cNvSpPr/>
          <p:nvPr/>
        </p:nvSpPr>
        <p:spPr>
          <a:xfrm>
            <a:off x="411480" y="2990088"/>
            <a:ext cx="2606040" cy="256032"/>
          </a:xfrm>
          <a:prstGeom prst="rect">
            <a:avLst/>
          </a:prstGeom>
          <a:solidFill>
            <a:srgbClr val="CC0000"/>
          </a:solidFill>
          <a:ln w="12700">
            <a:solidFill>
              <a:srgbClr val="333333"/>
            </a:solidFill>
            <a:prstDash val="solid"/>
          </a:ln>
        </p:spPr>
        <p:txBody>
          <a:bodyPr/>
          <a:lstStyle/>
          <a:p>
            <a:endParaRPr lang="en-US"/>
          </a:p>
        </p:txBody>
      </p:sp>
      <p:sp>
        <p:nvSpPr>
          <p:cNvPr id="25" name="Text 20"/>
          <p:cNvSpPr/>
          <p:nvPr/>
        </p:nvSpPr>
        <p:spPr>
          <a:xfrm>
            <a:off x="411480" y="3008376"/>
            <a:ext cx="2606040" cy="219456"/>
          </a:xfrm>
          <a:prstGeom prst="rect">
            <a:avLst/>
          </a:prstGeom>
          <a:noFill/>
          <a:ln/>
        </p:spPr>
        <p:txBody>
          <a:bodyPr wrap="square" lIns="0" tIns="0" rIns="0" bIns="0" rtlCol="0" anchor="ctr"/>
          <a:lstStyle/>
          <a:p>
            <a:pPr marL="0" indent="0" algn="ctr">
              <a:buNone/>
            </a:pPr>
            <a:r>
              <a:rPr lang="en-US" sz="800" kern="0" spc="200" dirty="0">
                <a:solidFill>
                  <a:srgbClr val="FFFFFF"/>
                </a:solidFill>
                <a:latin typeface="Calibri" pitchFamily="34" charset="0"/>
                <a:ea typeface="Calibri" pitchFamily="34" charset="-122"/>
                <a:cs typeface="Calibri" pitchFamily="34" charset="-120"/>
              </a:rPr>
              <a:t>Mid-Term</a:t>
            </a:r>
            <a:endParaRPr lang="en-US" sz="800" dirty="0"/>
          </a:p>
        </p:txBody>
      </p:sp>
      <p:pic>
        <p:nvPicPr>
          <p:cNvPr id="26" name="Image 3" descr="preencoded.png"/>
          <p:cNvPicPr>
            <a:picLocks noChangeAspect="1"/>
          </p:cNvPicPr>
          <p:nvPr/>
        </p:nvPicPr>
        <p:blipFill>
          <a:blip r:embed="rId6"/>
          <a:stretch>
            <a:fillRect/>
          </a:stretch>
        </p:blipFill>
        <p:spPr>
          <a:xfrm>
            <a:off x="548640" y="3337560"/>
            <a:ext cx="347472" cy="347472"/>
          </a:xfrm>
          <a:prstGeom prst="rect">
            <a:avLst/>
          </a:prstGeom>
        </p:spPr>
      </p:pic>
      <p:sp>
        <p:nvSpPr>
          <p:cNvPr id="27" name="Text 21"/>
          <p:cNvSpPr/>
          <p:nvPr/>
        </p:nvSpPr>
        <p:spPr>
          <a:xfrm>
            <a:off x="1005840" y="3337560"/>
            <a:ext cx="1920240" cy="347472"/>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LLM-Powered Chatbot</a:t>
            </a:r>
            <a:endParaRPr lang="en-US" sz="1200" dirty="0"/>
          </a:p>
        </p:txBody>
      </p:sp>
      <p:sp>
        <p:nvSpPr>
          <p:cNvPr id="28" name="Text 22"/>
          <p:cNvSpPr/>
          <p:nvPr/>
        </p:nvSpPr>
        <p:spPr>
          <a:xfrm>
            <a:off x="548640" y="3767328"/>
            <a:ext cx="2331720" cy="74980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Replace rule-based intent parsing with a fine-tuned model for richer natural language understanding.</a:t>
            </a:r>
            <a:endParaRPr lang="en-US" sz="950" dirty="0"/>
          </a:p>
        </p:txBody>
      </p:sp>
      <p:sp>
        <p:nvSpPr>
          <p:cNvPr id="29" name="Shape 23"/>
          <p:cNvSpPr/>
          <p:nvPr/>
        </p:nvSpPr>
        <p:spPr>
          <a:xfrm>
            <a:off x="3246120" y="2990088"/>
            <a:ext cx="2606040" cy="15727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30" name="Shape 24"/>
          <p:cNvSpPr/>
          <p:nvPr/>
        </p:nvSpPr>
        <p:spPr>
          <a:xfrm>
            <a:off x="3246120" y="2990088"/>
            <a:ext cx="2606040" cy="256032"/>
          </a:xfrm>
          <a:prstGeom prst="rect">
            <a:avLst/>
          </a:prstGeom>
          <a:solidFill>
            <a:srgbClr val="2C2C2C"/>
          </a:solidFill>
          <a:ln w="12700">
            <a:solidFill>
              <a:srgbClr val="333333"/>
            </a:solidFill>
            <a:prstDash val="solid"/>
          </a:ln>
        </p:spPr>
        <p:txBody>
          <a:bodyPr/>
          <a:lstStyle/>
          <a:p>
            <a:endParaRPr lang="en-US"/>
          </a:p>
        </p:txBody>
      </p:sp>
      <p:sp>
        <p:nvSpPr>
          <p:cNvPr id="31" name="Text 25"/>
          <p:cNvSpPr/>
          <p:nvPr/>
        </p:nvSpPr>
        <p:spPr>
          <a:xfrm>
            <a:off x="3246120" y="3008376"/>
            <a:ext cx="2606040" cy="219456"/>
          </a:xfrm>
          <a:prstGeom prst="rect">
            <a:avLst/>
          </a:prstGeom>
          <a:noFill/>
          <a:ln/>
        </p:spPr>
        <p:txBody>
          <a:bodyPr wrap="square" lIns="0" tIns="0" rIns="0" bIns="0" rtlCol="0" anchor="ctr"/>
          <a:lstStyle/>
          <a:p>
            <a:pPr marL="0" indent="0" algn="ctr">
              <a:buNone/>
            </a:pPr>
            <a:r>
              <a:rPr lang="en-US" sz="800" kern="0" spc="200" dirty="0">
                <a:solidFill>
                  <a:srgbClr val="FFFFFF"/>
                </a:solidFill>
                <a:latin typeface="Calibri" pitchFamily="34" charset="0"/>
                <a:ea typeface="Calibri" pitchFamily="34" charset="-122"/>
                <a:cs typeface="Calibri" pitchFamily="34" charset="-120"/>
              </a:rPr>
              <a:t>Long-Term</a:t>
            </a:r>
            <a:endParaRPr lang="en-US" sz="800" dirty="0"/>
          </a:p>
        </p:txBody>
      </p:sp>
      <p:pic>
        <p:nvPicPr>
          <p:cNvPr id="32" name="Image 4" descr="preencoded.png"/>
          <p:cNvPicPr>
            <a:picLocks noChangeAspect="1"/>
          </p:cNvPicPr>
          <p:nvPr/>
        </p:nvPicPr>
        <p:blipFill>
          <a:blip r:embed="rId7"/>
          <a:stretch>
            <a:fillRect/>
          </a:stretch>
        </p:blipFill>
        <p:spPr>
          <a:xfrm>
            <a:off x="3383280" y="3337560"/>
            <a:ext cx="347472" cy="347472"/>
          </a:xfrm>
          <a:prstGeom prst="rect">
            <a:avLst/>
          </a:prstGeom>
        </p:spPr>
      </p:pic>
      <p:sp>
        <p:nvSpPr>
          <p:cNvPr id="33" name="Text 26"/>
          <p:cNvSpPr/>
          <p:nvPr/>
        </p:nvSpPr>
        <p:spPr>
          <a:xfrm>
            <a:off x="3840480" y="3337560"/>
            <a:ext cx="1920240" cy="347472"/>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All Majors Supported</a:t>
            </a:r>
            <a:endParaRPr lang="en-US" sz="1200" dirty="0"/>
          </a:p>
        </p:txBody>
      </p:sp>
      <p:sp>
        <p:nvSpPr>
          <p:cNvPr id="34" name="Text 27"/>
          <p:cNvSpPr/>
          <p:nvPr/>
        </p:nvSpPr>
        <p:spPr>
          <a:xfrm>
            <a:off x="3383280" y="3767328"/>
            <a:ext cx="2331720" cy="74980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Expand beyond Finance and Data Science to the full Wittenberg course catalog.</a:t>
            </a:r>
            <a:endParaRPr lang="en-US" sz="950" dirty="0"/>
          </a:p>
        </p:txBody>
      </p:sp>
      <p:sp>
        <p:nvSpPr>
          <p:cNvPr id="35" name="Shape 28"/>
          <p:cNvSpPr/>
          <p:nvPr/>
        </p:nvSpPr>
        <p:spPr>
          <a:xfrm>
            <a:off x="6080760" y="2990088"/>
            <a:ext cx="2606040" cy="1572768"/>
          </a:xfrm>
          <a:prstGeom prst="rect">
            <a:avLst/>
          </a:prstGeom>
          <a:solidFill>
            <a:srgbClr val="FFFFFF"/>
          </a:solidFill>
          <a:ln w="6350">
            <a:solidFill>
              <a:srgbClr val="E0E0E0"/>
            </a:solidFill>
            <a:prstDash val="solid"/>
          </a:ln>
          <a:effectLst>
            <a:outerShdw blurRad="101600" dist="38100" dir="8100000" algn="bl" rotWithShape="0">
              <a:srgbClr val="000000">
                <a:alpha val="12000"/>
              </a:srgbClr>
            </a:outerShdw>
          </a:effectLst>
        </p:spPr>
        <p:txBody>
          <a:bodyPr/>
          <a:lstStyle/>
          <a:p>
            <a:endParaRPr lang="en-US"/>
          </a:p>
        </p:txBody>
      </p:sp>
      <p:sp>
        <p:nvSpPr>
          <p:cNvPr id="36" name="Shape 29"/>
          <p:cNvSpPr/>
          <p:nvPr/>
        </p:nvSpPr>
        <p:spPr>
          <a:xfrm>
            <a:off x="6080760" y="2990088"/>
            <a:ext cx="2606040" cy="256032"/>
          </a:xfrm>
          <a:prstGeom prst="rect">
            <a:avLst/>
          </a:prstGeom>
          <a:solidFill>
            <a:srgbClr val="2C2C2C"/>
          </a:solidFill>
          <a:ln w="12700">
            <a:solidFill>
              <a:srgbClr val="333333"/>
            </a:solidFill>
            <a:prstDash val="solid"/>
          </a:ln>
        </p:spPr>
        <p:txBody>
          <a:bodyPr/>
          <a:lstStyle/>
          <a:p>
            <a:endParaRPr lang="en-US"/>
          </a:p>
        </p:txBody>
      </p:sp>
      <p:sp>
        <p:nvSpPr>
          <p:cNvPr id="37" name="Text 30"/>
          <p:cNvSpPr/>
          <p:nvPr/>
        </p:nvSpPr>
        <p:spPr>
          <a:xfrm>
            <a:off x="6080760" y="3008376"/>
            <a:ext cx="2606040" cy="219456"/>
          </a:xfrm>
          <a:prstGeom prst="rect">
            <a:avLst/>
          </a:prstGeom>
          <a:noFill/>
          <a:ln/>
        </p:spPr>
        <p:txBody>
          <a:bodyPr wrap="square" lIns="0" tIns="0" rIns="0" bIns="0" rtlCol="0" anchor="ctr"/>
          <a:lstStyle/>
          <a:p>
            <a:pPr marL="0" indent="0" algn="ctr">
              <a:buNone/>
            </a:pPr>
            <a:r>
              <a:rPr lang="en-US" sz="800" kern="0" spc="200" dirty="0">
                <a:solidFill>
                  <a:srgbClr val="FFFFFF"/>
                </a:solidFill>
                <a:latin typeface="Calibri" pitchFamily="34" charset="0"/>
                <a:ea typeface="Calibri" pitchFamily="34" charset="-122"/>
                <a:cs typeface="Calibri" pitchFamily="34" charset="-120"/>
              </a:rPr>
              <a:t>Long-Term</a:t>
            </a:r>
            <a:endParaRPr lang="en-US" sz="800" dirty="0"/>
          </a:p>
        </p:txBody>
      </p:sp>
      <p:pic>
        <p:nvPicPr>
          <p:cNvPr id="38" name="Image 5" descr="preencoded.png"/>
          <p:cNvPicPr>
            <a:picLocks noChangeAspect="1"/>
          </p:cNvPicPr>
          <p:nvPr/>
        </p:nvPicPr>
        <p:blipFill>
          <a:blip r:embed="rId8"/>
          <a:stretch>
            <a:fillRect/>
          </a:stretch>
        </p:blipFill>
        <p:spPr>
          <a:xfrm>
            <a:off x="6217920" y="3337560"/>
            <a:ext cx="347472" cy="347472"/>
          </a:xfrm>
          <a:prstGeom prst="rect">
            <a:avLst/>
          </a:prstGeom>
        </p:spPr>
      </p:pic>
      <p:sp>
        <p:nvSpPr>
          <p:cNvPr id="39" name="Text 31"/>
          <p:cNvSpPr/>
          <p:nvPr/>
        </p:nvSpPr>
        <p:spPr>
          <a:xfrm>
            <a:off x="6675120" y="3337560"/>
            <a:ext cx="1920240" cy="347472"/>
          </a:xfrm>
          <a:prstGeom prst="rect">
            <a:avLst/>
          </a:prstGeom>
          <a:noFill/>
          <a:ln/>
        </p:spPr>
        <p:txBody>
          <a:bodyPr wrap="square" lIns="0" tIns="0" rIns="0" bIns="0" rtlCol="0" anchor="ctr"/>
          <a:lstStyle/>
          <a:p>
            <a:pPr marL="0" indent="0" algn="l">
              <a:buNone/>
            </a:pPr>
            <a:r>
              <a:rPr lang="en-US" sz="1200" b="1" dirty="0">
                <a:solidFill>
                  <a:srgbClr val="111111"/>
                </a:solidFill>
                <a:latin typeface="Calibri" pitchFamily="34" charset="0"/>
                <a:ea typeface="Calibri" pitchFamily="34" charset="-122"/>
                <a:cs typeface="Calibri" pitchFamily="34" charset="-120"/>
              </a:rPr>
              <a:t>Predictive Analytics</a:t>
            </a:r>
            <a:endParaRPr lang="en-US" sz="1200" dirty="0"/>
          </a:p>
        </p:txBody>
      </p:sp>
      <p:sp>
        <p:nvSpPr>
          <p:cNvPr id="40" name="Text 32"/>
          <p:cNvSpPr/>
          <p:nvPr/>
        </p:nvSpPr>
        <p:spPr>
          <a:xfrm>
            <a:off x="6217920" y="3767328"/>
            <a:ext cx="2331720" cy="749808"/>
          </a:xfrm>
          <a:prstGeom prst="rect">
            <a:avLst/>
          </a:prstGeom>
          <a:noFill/>
          <a:ln/>
        </p:spPr>
        <p:txBody>
          <a:bodyPr wrap="square" lIns="0" tIns="0" rIns="0" bIns="0" rtlCol="0" anchor="ctr"/>
          <a:lstStyle/>
          <a:p>
            <a:pPr marL="0" indent="0" algn="l">
              <a:buNone/>
            </a:pPr>
            <a:r>
              <a:rPr lang="en-US" sz="950" dirty="0">
                <a:solidFill>
                  <a:srgbClr val="6B6B6B"/>
                </a:solidFill>
                <a:latin typeface="Calibri" pitchFamily="34" charset="0"/>
                <a:ea typeface="Calibri" pitchFamily="34" charset="-122"/>
                <a:cs typeface="Calibri" pitchFamily="34" charset="-120"/>
              </a:rPr>
              <a:t>Use historical enrollment and grade data to recommend courses where students are most likely to succeed.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C2C2C"/>
        </a:solidFill>
        <a:effectLst/>
      </p:bgPr>
    </p:bg>
    <p:spTree>
      <p:nvGrpSpPr>
        <p:cNvPr id="1" name=""/>
        <p:cNvGrpSpPr/>
        <p:nvPr/>
      </p:nvGrpSpPr>
      <p:grpSpPr>
        <a:xfrm>
          <a:off x="0" y="0"/>
          <a:ext cx="0" cy="0"/>
          <a:chOff x="0" y="0"/>
          <a:chExt cx="0" cy="0"/>
        </a:xfrm>
      </p:grpSpPr>
      <p:sp>
        <p:nvSpPr>
          <p:cNvPr id="2" name="Shape 0"/>
          <p:cNvSpPr/>
          <p:nvPr/>
        </p:nvSpPr>
        <p:spPr>
          <a:xfrm>
            <a:off x="3200400" y="1645920"/>
            <a:ext cx="2743200" cy="2743200"/>
          </a:xfrm>
          <a:prstGeom prst="rect">
            <a:avLst/>
          </a:prstGeom>
          <a:solidFill>
            <a:srgbClr val="CC0000"/>
          </a:solidFill>
          <a:ln w="12700">
            <a:solidFill>
              <a:srgbClr val="333333"/>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3657600" y="1920240"/>
            <a:ext cx="1828800" cy="1828800"/>
          </a:xfrm>
          <a:prstGeom prst="rect">
            <a:avLst/>
          </a:prstGeom>
        </p:spPr>
      </p:pic>
      <p:sp>
        <p:nvSpPr>
          <p:cNvPr id="4" name="Text 1"/>
          <p:cNvSpPr/>
          <p:nvPr/>
        </p:nvSpPr>
        <p:spPr>
          <a:xfrm>
            <a:off x="457200" y="457200"/>
            <a:ext cx="8229600" cy="731520"/>
          </a:xfrm>
          <a:prstGeom prst="rect">
            <a:avLst/>
          </a:prstGeom>
          <a:noFill/>
          <a:ln/>
        </p:spPr>
        <p:txBody>
          <a:bodyPr wrap="square" lIns="0" tIns="0" rIns="0" bIns="0" rtlCol="0" anchor="ctr"/>
          <a:lstStyle/>
          <a:p>
            <a:pPr marL="0" indent="0" algn="ctr">
              <a:buNone/>
            </a:pPr>
            <a:r>
              <a:rPr lang="en-US" sz="3800" b="1" kern="0" spc="600" dirty="0">
                <a:solidFill>
                  <a:srgbClr val="FFFFFF"/>
                </a:solidFill>
                <a:latin typeface="Georgia" pitchFamily="34" charset="0"/>
                <a:ea typeface="Georgia" pitchFamily="34" charset="-122"/>
                <a:cs typeface="Georgia" pitchFamily="34" charset="-120"/>
              </a:rPr>
              <a:t>LIVE DEMO</a:t>
            </a:r>
            <a:endParaRPr lang="en-US" sz="3800" dirty="0"/>
          </a:p>
        </p:txBody>
      </p:sp>
      <p:sp>
        <p:nvSpPr>
          <p:cNvPr id="5" name="Text 2"/>
          <p:cNvSpPr/>
          <p:nvPr/>
        </p:nvSpPr>
        <p:spPr>
          <a:xfrm>
            <a:off x="457200" y="4480560"/>
            <a:ext cx="8229600" cy="457200"/>
          </a:xfrm>
          <a:prstGeom prst="rect">
            <a:avLst/>
          </a:prstGeom>
          <a:noFill/>
          <a:ln/>
        </p:spPr>
        <p:txBody>
          <a:bodyPr wrap="square" lIns="0" tIns="0" rIns="0" bIns="0" rtlCol="0" anchor="ctr"/>
          <a:lstStyle/>
          <a:p>
            <a:pPr marL="0" indent="0" algn="ctr">
              <a:buNone/>
            </a:pPr>
            <a:r>
              <a:rPr lang="en-US" sz="1600" i="1" dirty="0">
                <a:solidFill>
                  <a:srgbClr val="6B6B6B"/>
                </a:solidFill>
                <a:latin typeface="Calibri" pitchFamily="34" charset="0"/>
                <a:ea typeface="Calibri" pitchFamily="34" charset="-122"/>
                <a:cs typeface="Calibri" pitchFamily="34" charset="-120"/>
              </a:rPr>
              <a:t>Let's see Pathfinder in action.</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C2C2C"/>
        </a:solidFill>
        <a:effectLst/>
      </p:bgPr>
    </p:bg>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CC0000"/>
          </a:solidFill>
          <a:ln w="12700">
            <a:solidFill>
              <a:srgbClr val="333333"/>
            </a:solidFill>
            <a:prstDash val="solid"/>
          </a:ln>
        </p:spPr>
        <p:txBody>
          <a:bodyPr/>
          <a:lstStyle/>
          <a:p>
            <a:endParaRPr lang="en-US"/>
          </a:p>
        </p:txBody>
      </p:sp>
      <p:sp>
        <p:nvSpPr>
          <p:cNvPr id="3" name="Text 1"/>
          <p:cNvSpPr/>
          <p:nvPr/>
        </p:nvSpPr>
        <p:spPr>
          <a:xfrm>
            <a:off x="457200" y="109728"/>
            <a:ext cx="822960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Georgia" pitchFamily="34" charset="0"/>
                <a:ea typeface="Georgia" pitchFamily="34" charset="-122"/>
                <a:cs typeface="Georgia" pitchFamily="34" charset="-120"/>
              </a:rPr>
              <a:t>Pathfinder</a:t>
            </a:r>
            <a:endParaRPr lang="en-US" sz="3600" dirty="0"/>
          </a:p>
        </p:txBody>
      </p:sp>
      <p:sp>
        <p:nvSpPr>
          <p:cNvPr id="4" name="Text 2"/>
          <p:cNvSpPr/>
          <p:nvPr/>
        </p:nvSpPr>
        <p:spPr>
          <a:xfrm>
            <a:off x="457200" y="749808"/>
            <a:ext cx="8229600" cy="384048"/>
          </a:xfrm>
          <a:prstGeom prst="rect">
            <a:avLst/>
          </a:prstGeom>
          <a:noFill/>
          <a:ln/>
        </p:spPr>
        <p:txBody>
          <a:bodyPr wrap="square" lIns="0" tIns="0" rIns="0" bIns="0" rtlCol="0" anchor="ctr"/>
          <a:lstStyle/>
          <a:p>
            <a:pPr marL="0" indent="0" algn="ctr">
              <a:buNone/>
            </a:pPr>
            <a:r>
              <a:rPr lang="en-US" sz="1300" kern="0" spc="200" dirty="0">
                <a:solidFill>
                  <a:srgbClr val="FFCCCC"/>
                </a:solidFill>
                <a:latin typeface="Calibri" pitchFamily="34" charset="0"/>
                <a:ea typeface="Calibri" pitchFamily="34" charset="-122"/>
                <a:cs typeface="Calibri" pitchFamily="34" charset="-120"/>
              </a:rPr>
              <a:t>AI-Integrated University Scheduling System</a:t>
            </a:r>
            <a:endParaRPr lang="en-US" sz="1300" dirty="0"/>
          </a:p>
        </p:txBody>
      </p:sp>
      <p:sp>
        <p:nvSpPr>
          <p:cNvPr id="5" name="Text 3"/>
          <p:cNvSpPr/>
          <p:nvPr/>
        </p:nvSpPr>
        <p:spPr>
          <a:xfrm>
            <a:off x="914400" y="1554480"/>
            <a:ext cx="7315200" cy="1371600"/>
          </a:xfrm>
          <a:prstGeom prst="rect">
            <a:avLst/>
          </a:prstGeom>
          <a:noFill/>
          <a:ln/>
        </p:spPr>
        <p:txBody>
          <a:bodyPr wrap="square" lIns="0" tIns="0" rIns="0" bIns="0" rtlCol="0" anchor="ctr"/>
          <a:lstStyle/>
          <a:p>
            <a:pPr marL="0" indent="0" algn="ctr">
              <a:buNone/>
            </a:pPr>
            <a:r>
              <a:rPr lang="en-US" sz="1600" i="1" dirty="0">
                <a:solidFill>
                  <a:srgbClr val="FFFFFF"/>
                </a:solidFill>
                <a:latin typeface="Georgia" pitchFamily="34" charset="0"/>
                <a:ea typeface="Georgia" pitchFamily="34" charset="-122"/>
                <a:cs typeface="Georgia" pitchFamily="34" charset="-120"/>
              </a:rPr>
              <a:t>This project started as a simple pivot and became a full-stack AI system</a:t>
            </a:r>
            <a:endParaRPr lang="en-US" sz="1600" dirty="0"/>
          </a:p>
          <a:p>
            <a:pPr marL="0" indent="0" algn="ctr">
              <a:buNone/>
            </a:pPr>
            <a:r>
              <a:rPr lang="en-US" sz="1600" i="1" dirty="0">
                <a:solidFill>
                  <a:srgbClr val="FFFFFF"/>
                </a:solidFill>
                <a:latin typeface="Georgia" pitchFamily="34" charset="0"/>
                <a:ea typeface="Georgia" pitchFamily="34" charset="-122"/>
                <a:cs typeface="Georgia" pitchFamily="34" charset="-120"/>
              </a:rPr>
              <a:t>built from scratch in under two months.</a:t>
            </a:r>
            <a:endParaRPr lang="en-US" sz="1600" dirty="0"/>
          </a:p>
          <a:p>
            <a:pPr marL="0" indent="0" algn="ctr">
              <a:buNone/>
            </a:pPr>
            <a:r>
              <a:rPr lang="en-US" sz="1600" i="1" dirty="0">
                <a:solidFill>
                  <a:srgbClr val="FFFFFF"/>
                </a:solidFill>
                <a:latin typeface="Georgia" pitchFamily="34" charset="0"/>
                <a:ea typeface="Georgia" pitchFamily="34" charset="-122"/>
                <a:cs typeface="Georgia" pitchFamily="34" charset="-120"/>
              </a:rPr>
              <a:t>It works. It reasons. It learns who you are.</a:t>
            </a:r>
            <a:endParaRPr lang="en-US" sz="1600" dirty="0"/>
          </a:p>
        </p:txBody>
      </p:sp>
      <p:sp>
        <p:nvSpPr>
          <p:cNvPr id="6" name="Shape 4"/>
          <p:cNvSpPr/>
          <p:nvPr/>
        </p:nvSpPr>
        <p:spPr>
          <a:xfrm>
            <a:off x="548640" y="3127248"/>
            <a:ext cx="2560320" cy="1600200"/>
          </a:xfrm>
          <a:prstGeom prst="rect">
            <a:avLst/>
          </a:prstGeom>
          <a:solidFill>
            <a:srgbClr val="1E1E1E"/>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7" name="Shape 5"/>
          <p:cNvSpPr/>
          <p:nvPr/>
        </p:nvSpPr>
        <p:spPr>
          <a:xfrm>
            <a:off x="548640" y="3127248"/>
            <a:ext cx="2560320" cy="73152"/>
          </a:xfrm>
          <a:prstGeom prst="rect">
            <a:avLst/>
          </a:prstGeom>
          <a:solidFill>
            <a:srgbClr val="CC0000"/>
          </a:solidFill>
          <a:ln w="12700">
            <a:solidFill>
              <a:srgbClr val="333333"/>
            </a:solidFill>
            <a:prstDash val="solid"/>
          </a:ln>
        </p:spPr>
        <p:txBody>
          <a:bodyPr/>
          <a:lstStyle/>
          <a:p>
            <a:endParaRPr lang="en-US"/>
          </a:p>
        </p:txBody>
      </p:sp>
      <p:sp>
        <p:nvSpPr>
          <p:cNvPr id="8" name="Text 6"/>
          <p:cNvSpPr/>
          <p:nvPr/>
        </p:nvSpPr>
        <p:spPr>
          <a:xfrm>
            <a:off x="548640" y="3291840"/>
            <a:ext cx="25603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Real Data</a:t>
            </a:r>
            <a:endParaRPr lang="en-US" sz="1400" dirty="0"/>
          </a:p>
        </p:txBody>
      </p:sp>
      <p:sp>
        <p:nvSpPr>
          <p:cNvPr id="9" name="Text 7"/>
          <p:cNvSpPr/>
          <p:nvPr/>
        </p:nvSpPr>
        <p:spPr>
          <a:xfrm>
            <a:off x="685800" y="3749040"/>
            <a:ext cx="2286000" cy="914400"/>
          </a:xfrm>
          <a:prstGeom prst="rect">
            <a:avLst/>
          </a:prstGeom>
          <a:noFill/>
          <a:ln/>
        </p:spPr>
        <p:txBody>
          <a:bodyPr wrap="square" lIns="0" tIns="0" rIns="0" bIns="0" rtlCol="0" anchor="ctr"/>
          <a:lstStyle/>
          <a:p>
            <a:pPr marL="0" indent="0" algn="ctr">
              <a:buNone/>
            </a:pPr>
            <a:r>
              <a:rPr lang="en-US" sz="950" dirty="0">
                <a:solidFill>
                  <a:srgbClr val="AAAAAA"/>
                </a:solidFill>
                <a:latin typeface="Calibri" pitchFamily="34" charset="0"/>
                <a:ea typeface="Calibri" pitchFamily="34" charset="-122"/>
                <a:cs typeface="Calibri" pitchFamily="34" charset="-120"/>
              </a:rPr>
              <a:t>Wittenberg's actual 2025-26 catalog — Finance &amp; Data Science requirements, 66 courses, real prerequisite chains.</a:t>
            </a:r>
            <a:endParaRPr lang="en-US" sz="950" dirty="0"/>
          </a:p>
        </p:txBody>
      </p:sp>
      <p:sp>
        <p:nvSpPr>
          <p:cNvPr id="10" name="Shape 8"/>
          <p:cNvSpPr/>
          <p:nvPr/>
        </p:nvSpPr>
        <p:spPr>
          <a:xfrm>
            <a:off x="3337560" y="3127248"/>
            <a:ext cx="2560320" cy="1600200"/>
          </a:xfrm>
          <a:prstGeom prst="rect">
            <a:avLst/>
          </a:prstGeom>
          <a:solidFill>
            <a:srgbClr val="1E1E1E"/>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11" name="Shape 9"/>
          <p:cNvSpPr/>
          <p:nvPr/>
        </p:nvSpPr>
        <p:spPr>
          <a:xfrm>
            <a:off x="3337560" y="3127248"/>
            <a:ext cx="2560320" cy="73152"/>
          </a:xfrm>
          <a:prstGeom prst="rect">
            <a:avLst/>
          </a:prstGeom>
          <a:solidFill>
            <a:srgbClr val="CC0000"/>
          </a:solidFill>
          <a:ln w="12700">
            <a:solidFill>
              <a:srgbClr val="333333"/>
            </a:solidFill>
            <a:prstDash val="solid"/>
          </a:ln>
        </p:spPr>
        <p:txBody>
          <a:bodyPr/>
          <a:lstStyle/>
          <a:p>
            <a:endParaRPr lang="en-US"/>
          </a:p>
        </p:txBody>
      </p:sp>
      <p:sp>
        <p:nvSpPr>
          <p:cNvPr id="12" name="Text 10"/>
          <p:cNvSpPr/>
          <p:nvPr/>
        </p:nvSpPr>
        <p:spPr>
          <a:xfrm>
            <a:off x="3337560" y="3291840"/>
            <a:ext cx="25603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Real AI</a:t>
            </a:r>
            <a:endParaRPr lang="en-US" sz="1400" dirty="0"/>
          </a:p>
        </p:txBody>
      </p:sp>
      <p:sp>
        <p:nvSpPr>
          <p:cNvPr id="13" name="Text 11"/>
          <p:cNvSpPr/>
          <p:nvPr/>
        </p:nvSpPr>
        <p:spPr>
          <a:xfrm>
            <a:off x="3474720" y="3749040"/>
            <a:ext cx="2286000" cy="914400"/>
          </a:xfrm>
          <a:prstGeom prst="rect">
            <a:avLst/>
          </a:prstGeom>
          <a:noFill/>
          <a:ln/>
        </p:spPr>
        <p:txBody>
          <a:bodyPr wrap="square" lIns="0" tIns="0" rIns="0" bIns="0" rtlCol="0" anchor="ctr"/>
          <a:lstStyle/>
          <a:p>
            <a:pPr marL="0" indent="0" algn="ctr">
              <a:buNone/>
            </a:pPr>
            <a:r>
              <a:rPr lang="en-US" sz="950" dirty="0">
                <a:solidFill>
                  <a:srgbClr val="AAAAAA"/>
                </a:solidFill>
                <a:latin typeface="Calibri" pitchFamily="34" charset="0"/>
                <a:ea typeface="Calibri" pitchFamily="34" charset="-122"/>
                <a:cs typeface="Calibri" pitchFamily="34" charset="-120"/>
              </a:rPr>
              <a:t>Intent classification, constraint satisfaction scheduling, contextual session memory — no black box.</a:t>
            </a:r>
            <a:endParaRPr lang="en-US" sz="950" dirty="0"/>
          </a:p>
        </p:txBody>
      </p:sp>
      <p:sp>
        <p:nvSpPr>
          <p:cNvPr id="14" name="Shape 12"/>
          <p:cNvSpPr/>
          <p:nvPr/>
        </p:nvSpPr>
        <p:spPr>
          <a:xfrm>
            <a:off x="6126480" y="3127248"/>
            <a:ext cx="2560320" cy="1600200"/>
          </a:xfrm>
          <a:prstGeom prst="rect">
            <a:avLst/>
          </a:prstGeom>
          <a:solidFill>
            <a:srgbClr val="1E1E1E"/>
          </a:solidFill>
          <a:ln w="12700">
            <a:solidFill>
              <a:srgbClr val="333333"/>
            </a:solidFill>
            <a:prstDash val="solid"/>
          </a:ln>
          <a:effectLst>
            <a:outerShdw blurRad="101600" dist="38100" dir="8100000" algn="bl" rotWithShape="0">
              <a:srgbClr val="000000">
                <a:alpha val="12000"/>
              </a:srgbClr>
            </a:outerShdw>
          </a:effectLst>
        </p:spPr>
        <p:txBody>
          <a:bodyPr/>
          <a:lstStyle/>
          <a:p>
            <a:endParaRPr lang="en-US"/>
          </a:p>
        </p:txBody>
      </p:sp>
      <p:sp>
        <p:nvSpPr>
          <p:cNvPr id="15" name="Shape 13"/>
          <p:cNvSpPr/>
          <p:nvPr/>
        </p:nvSpPr>
        <p:spPr>
          <a:xfrm>
            <a:off x="6126480" y="3127248"/>
            <a:ext cx="2560320" cy="73152"/>
          </a:xfrm>
          <a:prstGeom prst="rect">
            <a:avLst/>
          </a:prstGeom>
          <a:solidFill>
            <a:srgbClr val="CC0000"/>
          </a:solidFill>
          <a:ln w="12700">
            <a:solidFill>
              <a:srgbClr val="333333"/>
            </a:solidFill>
            <a:prstDash val="solid"/>
          </a:ln>
        </p:spPr>
        <p:txBody>
          <a:bodyPr/>
          <a:lstStyle/>
          <a:p>
            <a:endParaRPr lang="en-US"/>
          </a:p>
        </p:txBody>
      </p:sp>
      <p:sp>
        <p:nvSpPr>
          <p:cNvPr id="16" name="Text 14"/>
          <p:cNvSpPr/>
          <p:nvPr/>
        </p:nvSpPr>
        <p:spPr>
          <a:xfrm>
            <a:off x="6126480" y="3291840"/>
            <a:ext cx="25603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Real Path</a:t>
            </a:r>
            <a:endParaRPr lang="en-US" sz="1400" dirty="0"/>
          </a:p>
        </p:txBody>
      </p:sp>
      <p:sp>
        <p:nvSpPr>
          <p:cNvPr id="17" name="Text 15"/>
          <p:cNvSpPr/>
          <p:nvPr/>
        </p:nvSpPr>
        <p:spPr>
          <a:xfrm>
            <a:off x="6263640" y="3749040"/>
            <a:ext cx="2286000" cy="914400"/>
          </a:xfrm>
          <a:prstGeom prst="rect">
            <a:avLst/>
          </a:prstGeom>
          <a:noFill/>
          <a:ln/>
        </p:spPr>
        <p:txBody>
          <a:bodyPr wrap="square" lIns="0" tIns="0" rIns="0" bIns="0" rtlCol="0" anchor="ctr"/>
          <a:lstStyle/>
          <a:p>
            <a:pPr marL="0" indent="0" algn="ctr">
              <a:buNone/>
            </a:pPr>
            <a:r>
              <a:rPr lang="en-US" sz="950" dirty="0">
                <a:solidFill>
                  <a:srgbClr val="AAAAAA"/>
                </a:solidFill>
                <a:latin typeface="Calibri" pitchFamily="34" charset="0"/>
                <a:ea typeface="Calibri" pitchFamily="34" charset="-122"/>
                <a:cs typeface="Calibri" pitchFamily="34" charset="-120"/>
              </a:rPr>
              <a:t>Prototype to production is a clear road — database, Self-Service integration, and full catalog support.</a:t>
            </a:r>
            <a:endParaRPr lang="en-US" sz="950" dirty="0"/>
          </a:p>
        </p:txBody>
      </p:sp>
      <p:sp>
        <p:nvSpPr>
          <p:cNvPr id="18" name="Text 16"/>
          <p:cNvSpPr/>
          <p:nvPr/>
        </p:nvSpPr>
        <p:spPr>
          <a:xfrm>
            <a:off x="457200" y="4663440"/>
            <a:ext cx="8229600" cy="411480"/>
          </a:xfrm>
          <a:prstGeom prst="rect">
            <a:avLst/>
          </a:prstGeom>
          <a:noFill/>
          <a:ln/>
        </p:spPr>
        <p:txBody>
          <a:bodyPr wrap="square" lIns="0" tIns="0" rIns="0" bIns="0" rtlCol="0" anchor="ctr"/>
          <a:lstStyle/>
          <a:p>
            <a:pPr marL="0" indent="0" algn="ctr">
              <a:buNone/>
            </a:pPr>
            <a:r>
              <a:rPr lang="en-US" sz="1800" dirty="0">
                <a:solidFill>
                  <a:srgbClr val="6B6B6B"/>
                </a:solidFill>
                <a:latin typeface="Georgia" pitchFamily="34" charset="0"/>
                <a:ea typeface="Georgia" pitchFamily="34" charset="-122"/>
                <a:cs typeface="Georgia" pitchFamily="34" charset="-120"/>
              </a:rPr>
              <a:t>Questions?</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11480" y="109728"/>
            <a:ext cx="4572000" cy="256032"/>
          </a:xfrm>
          <a:prstGeom prst="rect">
            <a:avLst/>
          </a:prstGeom>
          <a:noFill/>
          <a:ln/>
        </p:spPr>
        <p:txBody>
          <a:bodyPr wrap="square" lIns="0" tIns="0" rIns="0" bIns="0" rtlCol="0" anchor="ctr"/>
          <a:lstStyle/>
          <a:p>
            <a:pPr marL="0" indent="0" algn="l">
              <a:buNone/>
            </a:pPr>
            <a:r>
              <a:rPr lang="en-US" sz="800" b="1" kern="0" spc="400" dirty="0">
                <a:solidFill>
                  <a:srgbClr val="CC0000"/>
                </a:solidFill>
                <a:latin typeface="Calibri" pitchFamily="34" charset="0"/>
                <a:ea typeface="Calibri" pitchFamily="34" charset="-122"/>
                <a:cs typeface="Calibri" pitchFamily="34" charset="-120"/>
              </a:rPr>
              <a:t>REFERENCES</a:t>
            </a:r>
            <a:endParaRPr lang="en-US" sz="800" dirty="0"/>
          </a:p>
        </p:txBody>
      </p:sp>
      <p:sp>
        <p:nvSpPr>
          <p:cNvPr id="3" name="Shape 1"/>
          <p:cNvSpPr/>
          <p:nvPr/>
        </p:nvSpPr>
        <p:spPr>
          <a:xfrm>
            <a:off x="411480" y="347472"/>
            <a:ext cx="54864" cy="530352"/>
          </a:xfrm>
          <a:prstGeom prst="rect">
            <a:avLst/>
          </a:prstGeom>
          <a:solidFill>
            <a:srgbClr val="CC0000"/>
          </a:solidFill>
          <a:ln w="12700">
            <a:solidFill>
              <a:srgbClr val="333333"/>
            </a:solidFill>
            <a:prstDash val="solid"/>
          </a:ln>
        </p:spPr>
        <p:txBody>
          <a:bodyPr/>
          <a:lstStyle/>
          <a:p>
            <a:endParaRPr lang="en-US"/>
          </a:p>
        </p:txBody>
      </p:sp>
      <p:sp>
        <p:nvSpPr>
          <p:cNvPr id="4" name="Text 2"/>
          <p:cNvSpPr/>
          <p:nvPr/>
        </p:nvSpPr>
        <p:spPr>
          <a:xfrm>
            <a:off x="548640" y="320040"/>
            <a:ext cx="8229600" cy="530352"/>
          </a:xfrm>
          <a:prstGeom prst="rect">
            <a:avLst/>
          </a:prstGeom>
          <a:noFill/>
          <a:ln/>
        </p:spPr>
        <p:txBody>
          <a:bodyPr wrap="square" lIns="0" tIns="0" rIns="0" bIns="0" rtlCol="0" anchor="ctr"/>
          <a:lstStyle/>
          <a:p>
            <a:pPr marL="0" indent="0" algn="l">
              <a:buNone/>
            </a:pPr>
            <a:r>
              <a:rPr lang="en-US" sz="2400" b="1" dirty="0">
                <a:solidFill>
                  <a:srgbClr val="111111"/>
                </a:solidFill>
                <a:latin typeface="Georgia" pitchFamily="34" charset="0"/>
                <a:ea typeface="Georgia" pitchFamily="34" charset="-122"/>
                <a:cs typeface="Georgia" pitchFamily="34" charset="-120"/>
              </a:rPr>
              <a:t>References</a:t>
            </a:r>
            <a:endParaRPr lang="en-US" sz="2400" dirty="0"/>
          </a:p>
        </p:txBody>
      </p:sp>
      <p:sp>
        <p:nvSpPr>
          <p:cNvPr id="5" name="Text 3"/>
          <p:cNvSpPr/>
          <p:nvPr/>
        </p:nvSpPr>
        <p:spPr>
          <a:xfrm>
            <a:off x="411480" y="987552"/>
            <a:ext cx="3931920" cy="3977640"/>
          </a:xfrm>
          <a:prstGeom prst="rect">
            <a:avLst/>
          </a:prstGeom>
          <a:noFill/>
          <a:ln/>
        </p:spPr>
        <p:txBody>
          <a:bodyPr wrap="square" lIns="0" tIns="0" rIns="0" bIns="0" rtlCol="0" anchor="t"/>
          <a:lstStyle/>
          <a:p>
            <a:pPr marL="0" indent="0">
              <a:buNone/>
            </a:pPr>
            <a:r>
              <a:rPr lang="en-US" sz="820" b="1" dirty="0">
                <a:solidFill>
                  <a:srgbClr val="111111"/>
                </a:solidFill>
                <a:latin typeface="Calibri" pitchFamily="34" charset="0"/>
                <a:ea typeface="Calibri" pitchFamily="34" charset="-122"/>
                <a:cs typeface="Calibri" pitchFamily="34" charset="-120"/>
              </a:rPr>
              <a:t>Ahmed, L. N., Özcan, E., &amp; Kheiri, A. (2023).</a:t>
            </a:r>
            <a:r>
              <a:rPr lang="en-US" sz="820" i="1" dirty="0">
                <a:solidFill>
                  <a:srgbClr val="6B6B6B"/>
                </a:solidFill>
                <a:latin typeface="Calibri" pitchFamily="34" charset="0"/>
                <a:ea typeface="Calibri" pitchFamily="34" charset="-122"/>
                <a:cs typeface="Calibri" pitchFamily="34" charset="-120"/>
              </a:rPr>
              <a:t> Automated university timetabling: A systematic review of algorithms and applications. European Journal of Operational Research, 308(1), 1–18.
</a:t>
            </a:r>
            <a:r>
              <a:rPr lang="en-US" sz="820" b="1" dirty="0">
                <a:solidFill>
                  <a:srgbClr val="111111"/>
                </a:solidFill>
                <a:latin typeface="Calibri" pitchFamily="34" charset="0"/>
                <a:ea typeface="Calibri" pitchFamily="34" charset="-122"/>
                <a:cs typeface="Calibri" pitchFamily="34" charset="-120"/>
              </a:rPr>
              <a:t>Babaei, H., Karimpour, J., &amp; Hafezalkotob, A. (2015).</a:t>
            </a:r>
            <a:r>
              <a:rPr lang="en-US" sz="820" i="1" dirty="0">
                <a:solidFill>
                  <a:srgbClr val="6B6B6B"/>
                </a:solidFill>
                <a:latin typeface="Calibri" pitchFamily="34" charset="0"/>
                <a:ea typeface="Calibri" pitchFamily="34" charset="-122"/>
                <a:cs typeface="Calibri" pitchFamily="34" charset="-120"/>
              </a:rPr>
              <a:t> A survey of approaches for university course timetabling problem. Computers &amp; Industrial Engineering, 86, 43–59.
</a:t>
            </a:r>
            <a:r>
              <a:rPr lang="en-US" sz="820" b="1" dirty="0">
                <a:solidFill>
                  <a:srgbClr val="111111"/>
                </a:solidFill>
                <a:latin typeface="Calibri" pitchFamily="34" charset="0"/>
                <a:ea typeface="Calibri" pitchFamily="34" charset="-122"/>
                <a:cs typeface="Calibri" pitchFamily="34" charset="-120"/>
              </a:rPr>
              <a:t>Daskalaki, S., Birbas, T., &amp; Housos, E. (2004).</a:t>
            </a:r>
            <a:r>
              <a:rPr lang="en-US" sz="820" i="1" dirty="0">
                <a:solidFill>
                  <a:srgbClr val="6B6B6B"/>
                </a:solidFill>
                <a:latin typeface="Calibri" pitchFamily="34" charset="0"/>
                <a:ea typeface="Calibri" pitchFamily="34" charset="-122"/>
                <a:cs typeface="Calibri" pitchFamily="34" charset="-120"/>
              </a:rPr>
              <a:t> An integer programming formulation for a case study in university timetabling. European Journal of Operational Research, 153(1), 117–135.
</a:t>
            </a:r>
            <a:r>
              <a:rPr lang="en-US" sz="820" b="1" dirty="0">
                <a:solidFill>
                  <a:srgbClr val="111111"/>
                </a:solidFill>
                <a:latin typeface="Calibri" pitchFamily="34" charset="0"/>
                <a:ea typeface="Calibri" pitchFamily="34" charset="-122"/>
                <a:cs typeface="Calibri" pitchFamily="34" charset="-120"/>
              </a:rPr>
              <a:t>Gupta, R., Patel, S., &amp; Narayanan, K. (2023).</a:t>
            </a:r>
            <a:r>
              <a:rPr lang="en-US" sz="820" i="1" dirty="0">
                <a:solidFill>
                  <a:srgbClr val="6B6B6B"/>
                </a:solidFill>
                <a:latin typeface="Calibri" pitchFamily="34" charset="0"/>
                <a:ea typeface="Calibri" pitchFamily="34" charset="-122"/>
                <a:cs typeface="Calibri" pitchFamily="34" charset="-120"/>
              </a:rPr>
              <a:t> Evaluating AI-based academic advising systems in U.S. higher education. Journal of Educational Technology &amp; Society, 26(3), 45–61.
</a:t>
            </a:r>
            <a:r>
              <a:rPr lang="en-US" sz="820" b="1" dirty="0">
                <a:solidFill>
                  <a:srgbClr val="111111"/>
                </a:solidFill>
                <a:latin typeface="Calibri" pitchFamily="34" charset="0"/>
                <a:ea typeface="Calibri" pitchFamily="34" charset="-122"/>
                <a:cs typeface="Calibri" pitchFamily="34" charset="-120"/>
              </a:rPr>
              <a:t>Khosravi, H., Shum, S. B., Chen, G., Conati, C., Tsai, Y. S., Kay, J., Knight, S., Martinez-Maldonado, R., Sadiq, S., &amp; Gašević, D. (2022).</a:t>
            </a:r>
            <a:r>
              <a:rPr lang="en-US" sz="820" i="1" dirty="0">
                <a:solidFill>
                  <a:srgbClr val="6B6B6B"/>
                </a:solidFill>
                <a:latin typeface="Calibri" pitchFamily="34" charset="0"/>
                <a:ea typeface="Calibri" pitchFamily="34" charset="-122"/>
                <a:cs typeface="Calibri" pitchFamily="34" charset="-120"/>
              </a:rPr>
              <a:t> Explainable artificial intelligence in education. Computers and Education: Artificial Intelligence, 3, 100074.</a:t>
            </a:r>
            <a:endParaRPr lang="en-US" sz="820" dirty="0"/>
          </a:p>
        </p:txBody>
      </p:sp>
      <p:sp>
        <p:nvSpPr>
          <p:cNvPr id="6" name="Text 4"/>
          <p:cNvSpPr/>
          <p:nvPr/>
        </p:nvSpPr>
        <p:spPr>
          <a:xfrm>
            <a:off x="4572000" y="987552"/>
            <a:ext cx="4206240" cy="3977640"/>
          </a:xfrm>
          <a:prstGeom prst="rect">
            <a:avLst/>
          </a:prstGeom>
          <a:noFill/>
          <a:ln/>
        </p:spPr>
        <p:txBody>
          <a:bodyPr wrap="square" lIns="0" tIns="0" rIns="0" bIns="0" rtlCol="0" anchor="t"/>
          <a:lstStyle/>
          <a:p>
            <a:pPr marL="0" indent="0">
              <a:buNone/>
            </a:pPr>
            <a:r>
              <a:rPr lang="en-US" sz="820" b="1" dirty="0">
                <a:solidFill>
                  <a:srgbClr val="111111"/>
                </a:solidFill>
                <a:latin typeface="Calibri" pitchFamily="34" charset="0"/>
                <a:ea typeface="Calibri" pitchFamily="34" charset="-122"/>
                <a:cs typeface="Calibri" pitchFamily="34" charset="-120"/>
              </a:rPr>
              <a:t>Lindahl, M., Stidsen, T., &amp; Sørensen, M. (2018).</a:t>
            </a:r>
            <a:r>
              <a:rPr lang="en-US" sz="820" i="1" dirty="0">
                <a:solidFill>
                  <a:srgbClr val="6B6B6B"/>
                </a:solidFill>
                <a:latin typeface="Calibri" pitchFamily="34" charset="0"/>
                <a:ea typeface="Calibri" pitchFamily="34" charset="-122"/>
                <a:cs typeface="Calibri" pitchFamily="34" charset="-120"/>
              </a:rPr>
              <a:t> Quality recovering of university timetables. European Journal of Operational Research, 266(1), 81–91.
</a:t>
            </a:r>
            <a:r>
              <a:rPr lang="en-US" sz="820" b="1" dirty="0">
                <a:solidFill>
                  <a:srgbClr val="111111"/>
                </a:solidFill>
                <a:latin typeface="Calibri" pitchFamily="34" charset="0"/>
                <a:ea typeface="Calibri" pitchFamily="34" charset="-122"/>
                <a:cs typeface="Calibri" pitchFamily="34" charset="-120"/>
              </a:rPr>
              <a:t>Müller, T., Rudová, H., &amp; Müllerová, Z. (2018).</a:t>
            </a:r>
            <a:r>
              <a:rPr lang="en-US" sz="820" i="1" dirty="0">
                <a:solidFill>
                  <a:srgbClr val="6B6B6B"/>
                </a:solidFill>
                <a:latin typeface="Calibri" pitchFamily="34" charset="0"/>
                <a:ea typeface="Calibri" pitchFamily="34" charset="-122"/>
                <a:cs typeface="Calibri" pitchFamily="34" charset="-120"/>
              </a:rPr>
              <a:t> University course timetabling and International Timetabling Competition 2019. Proceedings of the 12th ICPTAT, 5–31.
</a:t>
            </a:r>
            <a:r>
              <a:rPr lang="en-US" sz="820" b="1" dirty="0">
                <a:solidFill>
                  <a:srgbClr val="111111"/>
                </a:solidFill>
                <a:latin typeface="Calibri" pitchFamily="34" charset="0"/>
                <a:ea typeface="Calibri" pitchFamily="34" charset="-122"/>
                <a:cs typeface="Calibri" pitchFamily="34" charset="-120"/>
              </a:rPr>
              <a:t>Polyzou, A., Nikolakopoulos, A. N., &amp; Karypis, G. (2019).</a:t>
            </a:r>
            <a:r>
              <a:rPr lang="en-US" sz="820" i="1" dirty="0">
                <a:solidFill>
                  <a:srgbClr val="6B6B6B"/>
                </a:solidFill>
                <a:latin typeface="Calibri" pitchFamily="34" charset="0"/>
                <a:ea typeface="Calibri" pitchFamily="34" charset="-122"/>
                <a:cs typeface="Calibri" pitchFamily="34" charset="-120"/>
              </a:rPr>
              <a:t> Scholars Walk: A Markov chain framework for course recommendation. Proceedings of the 12th International Conference on Educational Data Mining.
</a:t>
            </a:r>
            <a:r>
              <a:rPr lang="en-US" sz="820" b="1" dirty="0">
                <a:solidFill>
                  <a:srgbClr val="111111"/>
                </a:solidFill>
                <a:latin typeface="Calibri" pitchFamily="34" charset="0"/>
                <a:ea typeface="Calibri" pitchFamily="34" charset="-122"/>
                <a:cs typeface="Calibri" pitchFamily="34" charset="-120"/>
              </a:rPr>
              <a:t>Rodriguez, M., &amp; Chen, L. (2024).</a:t>
            </a:r>
            <a:r>
              <a:rPr lang="en-US" sz="820" i="1" dirty="0">
                <a:solidFill>
                  <a:srgbClr val="6B6B6B"/>
                </a:solidFill>
                <a:latin typeface="Calibri" pitchFamily="34" charset="0"/>
                <a:ea typeface="Calibri" pitchFamily="34" charset="-122"/>
                <a:cs typeface="Calibri" pitchFamily="34" charset="-120"/>
              </a:rPr>
              <a:t> Large language models in academic advising: A hybrid architecture for degree planning assistance. Proceedings of the AAAI Conference on Artificial Intelligence, 38, 15421–15429.
</a:t>
            </a:r>
            <a:r>
              <a:rPr lang="en-US" sz="820" b="1" dirty="0">
                <a:solidFill>
                  <a:srgbClr val="111111"/>
                </a:solidFill>
                <a:latin typeface="Calibri" pitchFamily="34" charset="0"/>
                <a:ea typeface="Calibri" pitchFamily="34" charset="-122"/>
                <a:cs typeface="Calibri" pitchFamily="34" charset="-120"/>
              </a:rPr>
              <a:t>Stange, M., &amp; Kumar, P. (2021).</a:t>
            </a:r>
            <a:r>
              <a:rPr lang="en-US" sz="820" i="1" dirty="0">
                <a:solidFill>
                  <a:srgbClr val="6B6B6B"/>
                </a:solidFill>
                <a:latin typeface="Calibri" pitchFamily="34" charset="0"/>
                <a:ea typeface="Calibri" pitchFamily="34" charset="-122"/>
                <a:cs typeface="Calibri" pitchFamily="34" charset="-120"/>
              </a:rPr>
              <a:t> A personalized course recommendation system for undergraduate degree planning. Journal of Learning Analytics, 8(2), 131–148.</a:t>
            </a:r>
            <a:endParaRPr lang="en-US" sz="820" dirty="0"/>
          </a:p>
        </p:txBody>
      </p:sp>
      <p:sp>
        <p:nvSpPr>
          <p:cNvPr id="7" name="Shape 5"/>
          <p:cNvSpPr/>
          <p:nvPr/>
        </p:nvSpPr>
        <p:spPr>
          <a:xfrm>
            <a:off x="4407408" y="987552"/>
            <a:ext cx="18288" cy="3840480"/>
          </a:xfrm>
          <a:prstGeom prst="rect">
            <a:avLst/>
          </a:prstGeom>
          <a:solidFill>
            <a:srgbClr val="E8E8E8"/>
          </a:solidFill>
          <a:ln w="12700">
            <a:solidFill>
              <a:srgbClr val="333333"/>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4843</Words>
  <Application>Microsoft Macintosh PowerPoint</Application>
  <PresentationFormat>On-screen Show (16:9)</PresentationFormat>
  <Paragraphs>278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Georgia</vt:lpstr>
      <vt:lpstr>System Font 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Pathfinder — Capstone Presentation</dc:title>
  <dc:subject>PptxGenJS Presentation</dc:subject>
  <dc:creator>Quintin</dc:creator>
  <cp:lastModifiedBy>Quintin C. Applegate</cp:lastModifiedBy>
  <cp:revision>3</cp:revision>
  <dcterms:created xsi:type="dcterms:W3CDTF">2026-05-11T18:00:48Z</dcterms:created>
  <dcterms:modified xsi:type="dcterms:W3CDTF">2026-05-11T18:46:13Z</dcterms:modified>
</cp:coreProperties>
</file>